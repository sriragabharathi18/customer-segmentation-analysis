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9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BC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Arc 31"/>
          <p:cNvSpPr/>
          <p:nvPr/>
        </p:nvSpPr>
        <p:spPr>
          <a:xfrm>
            <a:off x="45720" y="45720"/>
            <a:ext cx="1965960" cy="1463040"/>
          </a:xfrm>
          <a:prstGeom prst="arc">
            <a:avLst/>
          </a:prstGeom>
          <a:noFill/>
          <a:ln w="20320">
            <a:solidFill>
              <a:srgbClr val="D6B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771632" y="5614416"/>
            <a:ext cx="1993392" cy="1993392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652760" y="5532120"/>
            <a:ext cx="2286000" cy="2286000"/>
          </a:xfrm>
          <a:prstGeom prst="ellipse">
            <a:avLst/>
          </a:prstGeom>
          <a:solidFill>
            <a:srgbClr val="1B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-640080" y="-621792"/>
            <a:ext cx="2029968" cy="2029968"/>
          </a:xfrm>
          <a:prstGeom prst="ellipse">
            <a:avLst/>
          </a:prstGeom>
          <a:solidFill>
            <a:srgbClr val="CFB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-841248" y="-804672"/>
            <a:ext cx="2423160" cy="2423160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-1005840" y="-960120"/>
            <a:ext cx="2743200" cy="2743200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35240" y="914400"/>
            <a:ext cx="2926080" cy="16459"/>
          </a:xfrm>
          <a:prstGeom prst="rect">
            <a:avLst/>
          </a:prstGeom>
          <a:solidFill>
            <a:srgbClr val="24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93608" y="1426464"/>
            <a:ext cx="2926080" cy="16459"/>
          </a:xfrm>
          <a:prstGeom prst="rect">
            <a:avLst/>
          </a:prstGeom>
          <a:solidFill>
            <a:srgbClr val="24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51976" y="1938528"/>
            <a:ext cx="2926080" cy="16459"/>
          </a:xfrm>
          <a:prstGeom prst="rect">
            <a:avLst/>
          </a:prstGeom>
          <a:solidFill>
            <a:srgbClr val="24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10344" y="2450592"/>
            <a:ext cx="2926080" cy="16459"/>
          </a:xfrm>
          <a:prstGeom prst="rect">
            <a:avLst/>
          </a:prstGeom>
          <a:solidFill>
            <a:srgbClr val="24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268712" y="2962656"/>
            <a:ext cx="2926080" cy="1645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321040" y="1325880"/>
            <a:ext cx="960120" cy="960120"/>
          </a:xfrm>
          <a:prstGeom prst="ellipse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46920" y="2240280"/>
            <a:ext cx="658368" cy="658368"/>
          </a:xfrm>
          <a:prstGeom prst="ellipse">
            <a:avLst/>
          </a:prstGeom>
          <a:solidFill>
            <a:srgbClr val="EFB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71305" y="3192780"/>
            <a:ext cx="438912" cy="438912"/>
          </a:xfrm>
          <a:prstGeom prst="ellipse">
            <a:avLst/>
          </a:prstGeom>
          <a:solidFill>
            <a:srgbClr val="69A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95560" y="3657600"/>
            <a:ext cx="914400" cy="914400"/>
          </a:xfrm>
          <a:prstGeom prst="ellipse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4345" y="106680"/>
            <a:ext cx="6632575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 u="sng">
                <a:solidFill>
                  <a:schemeClr val="tx1"/>
                </a:solidFill>
                <a:latin typeface="Aptos"/>
              </a:rPr>
              <a:t>MACHINE LEARNING  /  PROJECT PRESENTATION</a:t>
            </a:r>
            <a:endParaRPr b="1" i="0" u="sng">
              <a:solidFill>
                <a:schemeClr val="tx1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56740" y="777240"/>
            <a:ext cx="6629400" cy="1508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F6F7F9"/>
                </a:solidFill>
                <a:latin typeface="Aptos"/>
              </a:rPr>
              <a:t>Customer Segmentation
Using K-Means Clustering</a:t>
            </a:r>
            <a:endParaRPr sz="3100"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78281" y="2093468"/>
            <a:ext cx="6035040" cy="65087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altLang="en-US" sz="2000" b="1" i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Impact" panose="020B0806030902050204" charset="0"/>
              </a:rPr>
              <a:t>Understand Customers. Discover Patterns. Make Smarter Decisions.</a:t>
            </a:r>
            <a:endParaRPr lang="en-US" altLang="en-US" sz="2000" b="1" i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Impact" panose="020B080603090205020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68350" y="4942205"/>
            <a:ext cx="1420495" cy="76200"/>
          </a:xfrm>
          <a:prstGeom prst="rect">
            <a:avLst/>
          </a:prstGeom>
          <a:solidFill>
            <a:schemeClr val="accent6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8096" y="5198618"/>
            <a:ext cx="1325880" cy="292608"/>
          </a:xfrm>
          <a:prstGeom prst="roundRect">
            <a:avLst>
              <a:gd name="adj" fmla="val 12000"/>
            </a:avLst>
          </a:prstGeom>
          <a:solidFill>
            <a:srgbClr val="24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5210555"/>
            <a:ext cx="132588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 i="0">
                <a:solidFill>
                  <a:srgbClr val="F6F7F9"/>
                </a:solidFill>
                <a:latin typeface="Aptos"/>
              </a:rPr>
              <a:t>PYTHON</a:t>
            </a:r>
            <a:endParaRPr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212975" y="5219700"/>
            <a:ext cx="2286000" cy="289560"/>
          </a:xfrm>
          <a:prstGeom prst="roundRect">
            <a:avLst>
              <a:gd name="adj" fmla="val 12000"/>
            </a:avLst>
          </a:prstGeom>
          <a:solidFill>
            <a:srgbClr val="24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94230" y="5201920"/>
            <a:ext cx="2423795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IN" b="1" i="0">
                <a:solidFill>
                  <a:srgbClr val="F6F7F9"/>
                </a:solidFill>
                <a:latin typeface="Aptos"/>
              </a:rPr>
              <a:t> </a:t>
            </a:r>
            <a:r>
              <a:rPr b="1" i="0">
                <a:solidFill>
                  <a:srgbClr val="F6F7F9"/>
                </a:solidFill>
                <a:latin typeface="Aptos"/>
              </a:rPr>
              <a:t>UNSUPERVISED ML</a:t>
            </a:r>
            <a:endParaRPr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733290" y="5220335"/>
            <a:ext cx="1170305" cy="311785"/>
          </a:xfrm>
          <a:prstGeom prst="roundRect">
            <a:avLst>
              <a:gd name="adj" fmla="val 12000"/>
            </a:avLst>
          </a:prstGeom>
          <a:solidFill>
            <a:srgbClr val="24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5196585"/>
            <a:ext cx="1170432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IN" b="1" i="0">
                <a:solidFill>
                  <a:srgbClr val="F6F7F9"/>
                </a:solidFill>
                <a:latin typeface="Aptos"/>
              </a:rPr>
              <a:t>  </a:t>
            </a:r>
            <a:r>
              <a:rPr b="1" i="0">
                <a:solidFill>
                  <a:srgbClr val="F6F7F9"/>
                </a:solidFill>
                <a:latin typeface="Aptos"/>
              </a:rPr>
              <a:t>K = 3</a:t>
            </a:r>
            <a:endParaRPr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68096" y="6153912"/>
            <a:ext cx="548640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chemeClr val="tx2">
                    <a:lumMod val="75000"/>
                  </a:schemeClr>
                </a:solidFill>
                <a:latin typeface="Aptos"/>
              </a:rPr>
              <a:t>DATA  →  CLUSTER  →  INSIGHT</a:t>
            </a:r>
            <a:endParaRPr b="1" i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7055" y="6510655"/>
            <a:ext cx="8669655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CUSTOMER SEGMENTATION  /  K-MEANS CLUSTERING</a:t>
            </a:r>
            <a:endParaRPr b="1" i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50292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b="1" i="0">
                <a:solidFill>
                  <a:schemeClr val="bg1"/>
                </a:solidFill>
                <a:latin typeface="Aptos"/>
              </a:rPr>
              <a:t>01</a:t>
            </a:r>
            <a:endParaRPr b="1" i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816610" y="2944495"/>
            <a:ext cx="805561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latin typeface="Microsoft YaHei" panose="020B0503020204020204" charset="-122"/>
                <a:ea typeface="Microsoft YaHei" panose="020B0503020204020204" charset="-122"/>
              </a:rPr>
              <a:t>Customer segmentation is the process of grouping customers based on similar characteristics and spending behaviour. This project uses the K-Means clustering algorithm to identify customer groups based on annual income and spending score, helping businesses understand customer patterns and make better marketing decisions.</a:t>
            </a:r>
            <a:endParaRPr lang="en-US" altLang="en-US" b="1"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BC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1" name="Arc 40"/>
          <p:cNvSpPr/>
          <p:nvPr/>
        </p:nvSpPr>
        <p:spPr>
          <a:xfrm>
            <a:off x="0" y="5440680"/>
            <a:ext cx="3657600" cy="1280160"/>
          </a:xfrm>
          <a:prstGeom prst="arc">
            <a:avLst/>
          </a:prstGeom>
          <a:noFill/>
          <a:ln w="16510">
            <a:solidFill>
              <a:srgbClr val="D6B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881360" y="-914400"/>
            <a:ext cx="2468880" cy="2468880"/>
          </a:xfrm>
          <a:prstGeom prst="ellipse">
            <a:avLst/>
          </a:prstGeom>
          <a:solidFill>
            <a:srgbClr val="B49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607040" y="-1188720"/>
            <a:ext cx="3108960" cy="3108960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-640080" y="5532120"/>
            <a:ext cx="2057400" cy="2057400"/>
          </a:xfrm>
          <a:prstGeom prst="ellipse">
            <a:avLst/>
          </a:prstGeom>
          <a:solidFill>
            <a:srgbClr val="CFB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-868680" y="5349240"/>
            <a:ext cx="2560320" cy="2560320"/>
          </a:xfrm>
          <a:prstGeom prst="ellipse">
            <a:avLst/>
          </a:prstGeom>
          <a:solidFill>
            <a:srgbClr val="B49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-1143000" y="5166360"/>
            <a:ext cx="3017520" cy="3017520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02920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</a:rPr>
              <a:t>01 / OVERVIEW</a:t>
            </a:r>
            <a:endParaRPr b="1" i="0">
              <a:solidFill>
                <a:schemeClr val="tx1">
                  <a:lumMod val="95000"/>
                  <a:lumOff val="5000"/>
                </a:scheme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513" y="757428"/>
            <a:ext cx="10972800" cy="3429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202731"/>
                </a:solidFill>
                <a:latin typeface="Microsoft YaHei" panose="020B0503020204020204" charset="-122"/>
                <a:ea typeface="Microsoft YaHei" panose="020B0503020204020204" charset="-122"/>
              </a:rPr>
              <a:t>From customer data to business insight</a:t>
            </a:r>
            <a:endParaRPr sz="2000" b="1" i="0">
              <a:solidFill>
                <a:srgbClr val="20273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1097280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</a:rPr>
              <a:t>A compact, explainable clustering workflow built around two customer attributes.</a:t>
            </a:r>
            <a:endParaRPr b="1" i="0">
              <a:solidFill>
                <a:schemeClr val="tx1">
                  <a:lumMod val="95000"/>
                  <a:lumOff val="5000"/>
                </a:scheme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30352" cy="41148"/>
          </a:xfrm>
          <a:prstGeom prst="rect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03848"/>
            <a:ext cx="685800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B6777"/>
                </a:solidFill>
                <a:latin typeface="Aptos"/>
              </a:rPr>
              <a:t>CU</a:t>
            </a:r>
            <a:r>
              <a:rPr b="1" i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rPr>
              <a:t>STOMER SEGMENTATION  /  K-MEANS CLUSTERING</a:t>
            </a:r>
            <a:endParaRPr b="1" i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64240" y="6404102"/>
            <a:ext cx="50292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b="1" i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rPr>
              <a:t>02</a:t>
            </a:r>
            <a:endParaRPr b="1" i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1270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011680"/>
            <a:ext cx="50292" cy="1417320"/>
          </a:xfrm>
          <a:prstGeom prst="roundRect">
            <a:avLst>
              <a:gd name="adj" fmla="val 12000"/>
            </a:avLst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176272"/>
            <a:ext cx="306324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chemeClr val="tx1"/>
                </a:solidFill>
                <a:latin typeface="Aptos"/>
              </a:rPr>
              <a:t>THE QUESTION</a:t>
            </a:r>
            <a:endParaRPr b="1" i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1247" y="2578608"/>
            <a:ext cx="3044952" cy="727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rPr>
              <a:t>Can customers be grouped by similar income and spending behaviour?</a:t>
            </a:r>
            <a:endParaRPr sz="1500" b="1" i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370832" y="201168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1270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0832" y="2011680"/>
            <a:ext cx="50292" cy="1417320"/>
          </a:xfrm>
          <a:prstGeom prst="roundRect">
            <a:avLst>
              <a:gd name="adj" fmla="val 12000"/>
            </a:avLst>
          </a:prstGeom>
          <a:solidFill>
            <a:srgbClr val="69A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176272"/>
            <a:ext cx="306324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</a:rPr>
              <a:t>THE METHOD</a:t>
            </a:r>
            <a:endParaRPr b="1" i="0">
              <a:solidFill>
                <a:schemeClr val="tx1">
                  <a:lumMod val="95000"/>
                  <a:lumOff val="5000"/>
                </a:scheme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0" y="2489708"/>
            <a:ext cx="3044952" cy="8661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Standardize the selected features, then apply K-Means clustering.</a:t>
            </a:r>
            <a:endParaRPr b="1" i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101583" y="201168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1270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01583" y="2011680"/>
            <a:ext cx="50292" cy="1417320"/>
          </a:xfrm>
          <a:prstGeom prst="roundRect">
            <a:avLst>
              <a:gd name="adj" fmla="val 12000"/>
            </a:avLst>
          </a:prstGeom>
          <a:solidFill>
            <a:srgbClr val="EFB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2176272"/>
            <a:ext cx="306324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202731"/>
                </a:solidFill>
                <a:latin typeface="Microsoft YaHei" panose="020B0503020204020204" charset="-122"/>
                <a:ea typeface="Microsoft YaHei" panose="020B0503020204020204" charset="-122"/>
              </a:rPr>
              <a:t>THE OUTPUT</a:t>
            </a:r>
            <a:endParaRPr b="1" i="0">
              <a:solidFill>
                <a:srgbClr val="20273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84337" y="2502408"/>
            <a:ext cx="3044952" cy="8661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chemeClr val="tx1"/>
                </a:solidFill>
                <a:latin typeface="Aptos"/>
              </a:rPr>
              <a:t>Three illustrative customer segments, shown through plots and centroids.</a:t>
            </a:r>
            <a:endParaRPr b="1" i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4069080"/>
            <a:ext cx="1078992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chemeClr val="accent1">
                    <a:lumMod val="50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</a:rPr>
              <a:t>PROJECT SNAPSHOT</a:t>
            </a:r>
            <a:endParaRPr b="1" i="0">
              <a:solidFill>
                <a:schemeClr val="accent1">
                  <a:lumMod val="50000"/>
                </a:scheme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1520" y="4526280"/>
            <a:ext cx="2514600" cy="105156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1270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681728"/>
            <a:ext cx="9601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02731"/>
                </a:solidFill>
                <a:latin typeface="Aptos"/>
              </a:rPr>
              <a:t>200</a:t>
            </a:r>
            <a:endParaRPr sz="2600" b="1" i="0">
              <a:solidFill>
                <a:srgbClr val="202731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91640" y="4565650"/>
            <a:ext cx="1554480" cy="8661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chemeClr val="accent1">
                    <a:lumMod val="50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</a:rPr>
              <a:t>synthetic customer profiles</a:t>
            </a:r>
            <a:endParaRPr b="1" i="0">
              <a:solidFill>
                <a:schemeClr val="accent1">
                  <a:lumMod val="50000"/>
                </a:scheme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566160" y="4526280"/>
            <a:ext cx="2514600" cy="105156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1270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30752" y="4681728"/>
            <a:ext cx="9601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02731"/>
                </a:solidFill>
                <a:latin typeface="Aptos"/>
              </a:rPr>
              <a:t>2</a:t>
            </a:r>
            <a:endParaRPr sz="2600" b="1" i="0">
              <a:solidFill>
                <a:srgbClr val="202731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90288" y="4638929"/>
            <a:ext cx="1325880" cy="589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chemeClr val="tx2">
                    <a:lumMod val="50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</a:rPr>
              <a:t>clustering features</a:t>
            </a:r>
            <a:endParaRPr b="1" i="0">
              <a:solidFill>
                <a:schemeClr val="tx2">
                  <a:lumMod val="50000"/>
                </a:scheme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400800" y="4526280"/>
            <a:ext cx="2514600" cy="105156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1270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4681728"/>
            <a:ext cx="9601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02731"/>
                </a:solidFill>
                <a:latin typeface="Aptos"/>
              </a:rPr>
              <a:t>3</a:t>
            </a:r>
            <a:endParaRPr sz="2600" b="1" i="0">
              <a:solidFill>
                <a:srgbClr val="202731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424928" y="4645279"/>
            <a:ext cx="1325880" cy="589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chemeClr val="tx2">
                    <a:lumMod val="50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</a:rPr>
              <a:t>target clusters</a:t>
            </a:r>
            <a:endParaRPr b="1" i="0">
              <a:solidFill>
                <a:schemeClr val="tx2">
                  <a:lumMod val="50000"/>
                </a:scheme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9235440" y="4526280"/>
            <a:ext cx="2514600" cy="105156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1270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00032" y="4681728"/>
            <a:ext cx="9601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02731"/>
                </a:solidFill>
                <a:latin typeface="Aptos"/>
              </a:rPr>
              <a:t>6</a:t>
            </a:r>
            <a:endParaRPr sz="2600" b="1" i="0">
              <a:solidFill>
                <a:srgbClr val="202731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259568" y="4574794"/>
            <a:ext cx="1325880" cy="8661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chemeClr val="accent1">
                    <a:lumMod val="50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</a:rPr>
              <a:t>supplied visual outputs</a:t>
            </a:r>
            <a:endParaRPr b="1" i="0">
              <a:solidFill>
                <a:schemeClr val="accent1">
                  <a:lumMod val="50000"/>
                </a:scheme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BC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Parallelogram 27"/>
          <p:cNvSpPr/>
          <p:nvPr/>
        </p:nvSpPr>
        <p:spPr>
          <a:xfrm>
            <a:off x="9966960" y="0"/>
            <a:ext cx="1645920" cy="109728"/>
          </a:xfrm>
          <a:prstGeom prst="parallelogram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11448288" y="5376672"/>
            <a:ext cx="146304" cy="1371600"/>
          </a:xfrm>
          <a:prstGeom prst="parallelogram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arallelogram 25"/>
          <p:cNvSpPr/>
          <p:nvPr/>
        </p:nvSpPr>
        <p:spPr>
          <a:xfrm>
            <a:off x="11631168" y="5074920"/>
            <a:ext cx="566928" cy="1783080"/>
          </a:xfrm>
          <a:prstGeom prst="parallelogram">
            <a:avLst/>
          </a:prstGeom>
          <a:solidFill>
            <a:srgbClr val="1B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arallelogram 24"/>
          <p:cNvSpPr/>
          <p:nvPr/>
        </p:nvSpPr>
        <p:spPr>
          <a:xfrm>
            <a:off x="329184" y="0"/>
            <a:ext cx="146304" cy="1325880"/>
          </a:xfrm>
          <a:prstGeom prst="parallelogram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arallelogram 23"/>
          <p:cNvSpPr/>
          <p:nvPr/>
        </p:nvSpPr>
        <p:spPr>
          <a:xfrm>
            <a:off x="0" y="0"/>
            <a:ext cx="457200" cy="1691640"/>
          </a:xfrm>
          <a:prstGeom prst="parallelogram">
            <a:avLst/>
          </a:prstGeom>
          <a:solidFill>
            <a:srgbClr val="1B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02920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chemeClr val="tx2"/>
                </a:solidFill>
                <a:latin typeface="Microsoft YaHei" panose="020B0503020204020204" charset="-122"/>
                <a:ea typeface="Microsoft YaHei" panose="020B0503020204020204" charset="-122"/>
              </a:rPr>
              <a:t>02 / BUSINESS CONTEXT</a:t>
            </a:r>
            <a:endParaRPr b="1" i="0">
              <a:solidFill>
                <a:schemeClr val="tx2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7F9"/>
                </a:solidFill>
                <a:latin typeface="Aptos"/>
              </a:rPr>
              <a:t>Why segment customers?</a:t>
            </a:r>
            <a:endParaRPr sz="2700"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1097280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9C2CD"/>
                </a:solidFill>
                <a:latin typeface="Aptos"/>
              </a:rPr>
              <a:t>A</a:t>
            </a:r>
            <a:r>
              <a:rPr b="1" i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rPr>
              <a:t> single average customer profile can hide important differences in behaviour.</a:t>
            </a:r>
            <a:endParaRPr b="1" i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30352" cy="41148"/>
          </a:xfrm>
          <a:prstGeom prst="rect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073" y="6362573"/>
            <a:ext cx="685800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b="1" i="0">
                <a:solidFill>
                  <a:schemeClr val="accent5">
                    <a:lumMod val="50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</a:rPr>
              <a:t>C</a:t>
            </a:r>
            <a:r>
              <a:rPr b="1" i="0">
                <a:solidFill>
                  <a:schemeClr val="accent5">
                    <a:lumMod val="50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</a:rPr>
              <a:t>USTOMER SEGMENTATION  /  K-MEANS CLUSTERING</a:t>
            </a:r>
            <a:endParaRPr b="1" i="0">
              <a:solidFill>
                <a:schemeClr val="accent5">
                  <a:lumMod val="50000"/>
                </a:scheme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08665" y="6362827"/>
            <a:ext cx="50292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b="1" i="0">
                <a:solidFill>
                  <a:schemeClr val="bg2">
                    <a:lumMod val="10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</a:rPr>
              <a:t>03</a:t>
            </a:r>
            <a:endParaRPr b="1" i="0">
              <a:solidFill>
                <a:schemeClr val="bg2">
                  <a:lumMod val="10000"/>
                </a:scheme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5800" y="2057400"/>
            <a:ext cx="3429000" cy="2011680"/>
          </a:xfrm>
          <a:prstGeom prst="roundRect">
            <a:avLst>
              <a:gd name="adj" fmla="val 12000"/>
            </a:avLst>
          </a:prstGeom>
          <a:solidFill>
            <a:srgbClr val="1B2028"/>
          </a:solidFill>
          <a:ln w="12700">
            <a:solidFill>
              <a:srgbClr val="24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057400"/>
            <a:ext cx="50292" cy="2011680"/>
          </a:xfrm>
          <a:prstGeom prst="roundRect">
            <a:avLst>
              <a:gd name="adj" fmla="val 12000"/>
            </a:avLst>
          </a:prstGeom>
          <a:solidFill>
            <a:srgbClr val="EE7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221992"/>
            <a:ext cx="306324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F6F7F9"/>
                </a:solidFill>
                <a:latin typeface="Aptos"/>
              </a:rPr>
              <a:t>ONE-SIZE-FITS-ALL</a:t>
            </a:r>
            <a:endParaRPr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6968" y="2624328"/>
            <a:ext cx="3044952" cy="8661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B9C2CD"/>
                </a:solidFill>
                <a:latin typeface="Microsoft YaHei" panose="020B0503020204020204" charset="-122"/>
                <a:ea typeface="Microsoft YaHei" panose="020B0503020204020204" charset="-122"/>
              </a:rPr>
              <a:t>The same offer may not appeal equally to every customer.</a:t>
            </a:r>
            <a:endParaRPr b="1" i="0">
              <a:solidFill>
                <a:srgbClr val="B9C2C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389120" y="2057400"/>
            <a:ext cx="3429000" cy="2011680"/>
          </a:xfrm>
          <a:prstGeom prst="roundRect">
            <a:avLst>
              <a:gd name="adj" fmla="val 12000"/>
            </a:avLst>
          </a:prstGeom>
          <a:solidFill>
            <a:srgbClr val="1B2028"/>
          </a:solidFill>
          <a:ln w="12700">
            <a:solidFill>
              <a:srgbClr val="24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2057400"/>
            <a:ext cx="50292" cy="2011680"/>
          </a:xfrm>
          <a:prstGeom prst="roundRect">
            <a:avLst>
              <a:gd name="adj" fmla="val 12000"/>
            </a:avLst>
          </a:prstGeom>
          <a:solidFill>
            <a:srgbClr val="EFB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221992"/>
            <a:ext cx="306324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F6F7F9"/>
                </a:solidFill>
                <a:latin typeface="Aptos"/>
              </a:rPr>
              <a:t>HIDDEN PATTERNS</a:t>
            </a:r>
            <a:endParaRPr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90288" y="2624328"/>
            <a:ext cx="3044952" cy="8661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0" i="0">
                <a:solidFill>
                  <a:srgbClr val="B9C2CD"/>
                </a:solidFill>
                <a:latin typeface="Microsoft YaHei" panose="020B0503020204020204" charset="-122"/>
                <a:ea typeface="Microsoft YaHei" panose="020B0503020204020204" charset="-122"/>
              </a:rPr>
              <a:t>I</a:t>
            </a:r>
            <a:r>
              <a:rPr b="1" i="0">
                <a:solidFill>
                  <a:srgbClr val="B9C2CD"/>
                </a:solidFill>
                <a:latin typeface="Microsoft YaHei" panose="020B0503020204020204" charset="-122"/>
                <a:ea typeface="Microsoft YaHei" panose="020B0503020204020204" charset="-122"/>
              </a:rPr>
              <a:t>ncome and spending can reveal groups with different needs.</a:t>
            </a:r>
            <a:endParaRPr b="1" i="0">
              <a:solidFill>
                <a:srgbClr val="B9C2C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092440" y="2057400"/>
            <a:ext cx="3429000" cy="2011680"/>
          </a:xfrm>
          <a:prstGeom prst="roundRect">
            <a:avLst>
              <a:gd name="adj" fmla="val 12000"/>
            </a:avLst>
          </a:prstGeom>
          <a:solidFill>
            <a:srgbClr val="1B2028"/>
          </a:solidFill>
          <a:ln w="12700">
            <a:solidFill>
              <a:srgbClr val="24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2440" y="2057400"/>
            <a:ext cx="50292" cy="2011680"/>
          </a:xfrm>
          <a:prstGeom prst="roundRect">
            <a:avLst>
              <a:gd name="adj" fmla="val 12000"/>
            </a:avLst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2221992"/>
            <a:ext cx="306324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F6F7F9"/>
                </a:solidFill>
                <a:latin typeface="Aptos"/>
              </a:rPr>
              <a:t>BETTER DECISIONS</a:t>
            </a:r>
            <a:endParaRPr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93608" y="2624328"/>
            <a:ext cx="3044952" cy="8661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B9C2CD"/>
                </a:solidFill>
                <a:latin typeface="Microsoft YaHei" panose="020B0503020204020204" charset="-122"/>
                <a:ea typeface="Microsoft YaHei" panose="020B0503020204020204" charset="-122"/>
              </a:rPr>
              <a:t>Segments can inform tailored campaigns and customer engagement.</a:t>
            </a:r>
            <a:endParaRPr b="1" i="0">
              <a:solidFill>
                <a:srgbClr val="B9C2C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8975" y="4568190"/>
            <a:ext cx="10698480" cy="1235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rPr>
              <a:t>Project aim</a:t>
            </a:r>
            <a:endParaRPr sz="2400" b="1" i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l">
              <a:spcAft>
                <a:spcPts val="0"/>
              </a:spcAft>
            </a:pPr>
            <a:endParaRPr sz="1800" b="1" i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l">
              <a:spcAft>
                <a:spcPts val="0"/>
              </a:spcAft>
            </a:pPr>
            <a:r>
              <a:rPr sz="1800" b="1" i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rPr>
              <a:t> </a:t>
            </a:r>
            <a:r>
              <a:rPr lang="en-IN" sz="1800" b="1" i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rPr>
              <a:t>       D</a:t>
            </a:r>
            <a:r>
              <a:rPr sz="1800" b="1" i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rPr>
              <a:t>emonstrate how unsupervised learning can turn two simple customer attributes into </a:t>
            </a:r>
            <a:r>
              <a:rPr lang="en-IN" sz="1800" b="1" i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rPr>
              <a:t>     </a:t>
            </a:r>
            <a:r>
              <a:rPr sz="1800" b="1" i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rPr>
              <a:t>interpretable groups.</a:t>
            </a:r>
            <a:endParaRPr sz="1800" b="1" i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BC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Oval 30"/>
          <p:cNvSpPr/>
          <p:nvPr/>
        </p:nvSpPr>
        <p:spPr>
          <a:xfrm>
            <a:off x="45720" y="5349240"/>
            <a:ext cx="1143000" cy="1143000"/>
          </a:xfrm>
          <a:prstGeom prst="ellipse">
            <a:avLst/>
          </a:prstGeom>
          <a:noFill/>
          <a:ln w="12700">
            <a:solidFill>
              <a:srgbClr val="744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927080" y="621792"/>
            <a:ext cx="1097280" cy="1097280"/>
          </a:xfrm>
          <a:prstGeom prst="ellipse">
            <a:avLst/>
          </a:prstGeom>
          <a:noFill/>
          <a:ln w="12700">
            <a:solidFill>
              <a:srgbClr val="D6B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61320" y="256032"/>
            <a:ext cx="841248" cy="841248"/>
          </a:xfrm>
          <a:prstGeom prst="ellipse">
            <a:avLst/>
          </a:prstGeom>
          <a:noFill/>
          <a:ln w="15240">
            <a:solidFill>
              <a:srgbClr val="CFB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561320" y="256032"/>
            <a:ext cx="1170432" cy="1170432"/>
          </a:xfrm>
          <a:prstGeom prst="ellipse">
            <a:avLst/>
          </a:prstGeom>
          <a:noFill/>
          <a:ln w="15240">
            <a:solidFill>
              <a:srgbClr val="B49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561320" y="256032"/>
            <a:ext cx="1508760" cy="1508760"/>
          </a:xfrm>
          <a:prstGeom prst="ellipse">
            <a:avLst/>
          </a:prstGeom>
          <a:noFill/>
          <a:ln w="15240">
            <a:solidFill>
              <a:srgbClr val="744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61320" y="256032"/>
            <a:ext cx="1828800" cy="1828800"/>
          </a:xfrm>
          <a:prstGeom prst="ellipse">
            <a:avLst/>
          </a:prstGeom>
          <a:noFill/>
          <a:ln w="15240">
            <a:solidFill>
              <a:srgbClr val="D6B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02920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chemeClr val="tx2"/>
                </a:solidFill>
                <a:latin typeface="Aptos"/>
              </a:rPr>
              <a:t>03 / OBJECTIVES</a:t>
            </a:r>
            <a:endParaRPr b="1" i="0">
              <a:solidFill>
                <a:schemeClr val="tx2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8698" y="757428"/>
            <a:ext cx="10972800" cy="3429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202731"/>
                </a:solidFill>
                <a:latin typeface="Microsoft YaHei" panose="020B0503020204020204" charset="-122"/>
                <a:ea typeface="Microsoft YaHei" panose="020B0503020204020204" charset="-122"/>
              </a:rPr>
              <a:t>What this project sets out to do</a:t>
            </a:r>
            <a:endParaRPr sz="2000" b="1" i="0">
              <a:solidFill>
                <a:srgbClr val="20273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706" y="1219835"/>
            <a:ext cx="1097280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chemeClr val="tx2"/>
                </a:solidFill>
                <a:latin typeface="Microsoft YaHei" panose="020B0503020204020204" charset="-122"/>
                <a:ea typeface="Microsoft YaHei" panose="020B0503020204020204" charset="-122"/>
              </a:rPr>
              <a:t>The objectives follow the supplied report and implementation.</a:t>
            </a:r>
            <a:endParaRPr b="1" i="0">
              <a:solidFill>
                <a:schemeClr val="tx2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30352" cy="41148"/>
          </a:xfrm>
          <a:prstGeom prst="rect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85800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chemeClr val="tx2"/>
                </a:solidFill>
                <a:latin typeface="Aptos"/>
              </a:rPr>
              <a:t>CUSTOMER SEGMENTATION  /  K-MEANS CLUSTERING</a:t>
            </a:r>
            <a:endParaRPr b="1" i="0">
              <a:solidFill>
                <a:schemeClr val="tx2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b="1" i="0">
                <a:solidFill>
                  <a:schemeClr val="tx1"/>
                </a:solidFill>
                <a:latin typeface="Aptos"/>
              </a:rPr>
              <a:t>04</a:t>
            </a:r>
            <a:endParaRPr b="1" i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" y="2084832"/>
            <a:ext cx="82296" cy="82296"/>
          </a:xfrm>
          <a:prstGeom prst="roundRect">
            <a:avLst>
              <a:gd name="adj" fmla="val 12000"/>
            </a:avLst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2011680"/>
            <a:ext cx="4901183" cy="1143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chemeClr val="tx2">
                    <a:lumMod val="50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</a:rPr>
              <a:t>Understand customer segmentation and unsupervised learning</a:t>
            </a:r>
            <a:endParaRPr b="1" i="0">
              <a:solidFill>
                <a:schemeClr val="tx2">
                  <a:lumMod val="50000"/>
                </a:schemeClr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l">
              <a:spcAft>
                <a:spcPts val="0"/>
              </a:spcAft>
            </a:pPr>
            <a:endParaRPr b="1" i="0">
              <a:solidFill>
                <a:schemeClr val="tx2">
                  <a:lumMod val="50000"/>
                </a:schemeClr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l">
              <a:spcAft>
                <a:spcPts val="0"/>
              </a:spcAft>
            </a:pPr>
            <a:endParaRPr b="1" i="0">
              <a:solidFill>
                <a:schemeClr val="tx2">
                  <a:lumMod val="50000"/>
                </a:scheme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2960" y="2580132"/>
            <a:ext cx="82296" cy="82296"/>
          </a:xfrm>
          <a:prstGeom prst="roundRect">
            <a:avLst>
              <a:gd name="adj" fmla="val 12000"/>
            </a:avLst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2506980"/>
            <a:ext cx="4901183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chemeClr val="tx2">
                    <a:lumMod val="50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</a:rPr>
              <a:t>Prepare and explore a customer dataset</a:t>
            </a:r>
            <a:endParaRPr b="1" i="0">
              <a:solidFill>
                <a:schemeClr val="tx2">
                  <a:lumMod val="50000"/>
                </a:scheme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22960" y="3075432"/>
            <a:ext cx="82296" cy="82296"/>
          </a:xfrm>
          <a:prstGeom prst="roundRect">
            <a:avLst>
              <a:gd name="adj" fmla="val 12000"/>
            </a:avLst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2855595"/>
            <a:ext cx="4901183" cy="589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chemeClr val="tx2">
                    <a:lumMod val="50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</a:rPr>
              <a:t>Scale income and spending features before clustering</a:t>
            </a:r>
            <a:endParaRPr b="1" i="0">
              <a:solidFill>
                <a:schemeClr val="tx2">
                  <a:lumMod val="50000"/>
                </a:scheme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2960" y="3570732"/>
            <a:ext cx="82296" cy="82296"/>
          </a:xfrm>
          <a:prstGeom prst="roundRect">
            <a:avLst>
              <a:gd name="adj" fmla="val 12000"/>
            </a:avLst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" y="3497580"/>
            <a:ext cx="4901183" cy="589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chemeClr val="tx2">
                    <a:lumMod val="50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</a:rPr>
              <a:t>Use the Elbow Method to guide the choice of K</a:t>
            </a:r>
            <a:endParaRPr b="1" i="0">
              <a:solidFill>
                <a:schemeClr val="tx2">
                  <a:lumMod val="50000"/>
                </a:scheme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2960" y="4066032"/>
            <a:ext cx="82296" cy="82296"/>
          </a:xfrm>
          <a:prstGeom prst="roundRect">
            <a:avLst>
              <a:gd name="adj" fmla="val 12000"/>
            </a:avLst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3992880"/>
            <a:ext cx="4901183" cy="589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chemeClr val="tx2">
                    <a:lumMod val="50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</a:rPr>
              <a:t>Visualize groups and interpret their profiles</a:t>
            </a:r>
            <a:endParaRPr b="1" i="0">
              <a:solidFill>
                <a:schemeClr val="tx2">
                  <a:lumMod val="50000"/>
                </a:scheme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00800" y="2103120"/>
            <a:ext cx="4754880" cy="192151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1270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2103120"/>
            <a:ext cx="76200" cy="1898015"/>
          </a:xfrm>
          <a:prstGeom prst="roundRect">
            <a:avLst>
              <a:gd name="adj" fmla="val 12000"/>
            </a:avLst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2267712"/>
            <a:ext cx="438912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202731"/>
                </a:solidFill>
                <a:latin typeface="Aptos"/>
              </a:rPr>
              <a:t>EXPECTED LEARNING</a:t>
            </a:r>
            <a:endParaRPr b="1" i="0">
              <a:solidFill>
                <a:srgbClr val="202731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01968" y="2670048"/>
            <a:ext cx="4370832" cy="1143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chemeClr val="tx2"/>
                </a:solidFill>
                <a:latin typeface="Microsoft YaHei" panose="020B0503020204020204" charset="-122"/>
                <a:ea typeface="Microsoft YaHei" panose="020B0503020204020204" charset="-122"/>
              </a:rPr>
              <a:t>Practice Python-based data preparation, model building, visualization and basic interpretation of cluster results.</a:t>
            </a:r>
            <a:endParaRPr b="1" i="0">
              <a:solidFill>
                <a:schemeClr val="tx2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81455" y="4819650"/>
            <a:ext cx="4114800" cy="95885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sz="2400" b="1" i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rPr>
              <a:t>S</a:t>
            </a:r>
            <a:r>
              <a:rPr sz="2400" b="1" i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rPr>
              <a:t>cope</a:t>
            </a:r>
            <a:endParaRPr sz="2400" b="1" i="1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l">
              <a:spcAft>
                <a:spcPts val="0"/>
              </a:spcAft>
            </a:pPr>
            <a:r>
              <a:rPr lang="en-IN" b="1" i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rPr>
              <a:t>          D</a:t>
            </a:r>
            <a:r>
              <a:rPr b="1" i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rPr>
              <a:t>emonstration dataset, not a validated production model.</a:t>
            </a:r>
            <a:endParaRPr b="1" i="1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50965" y="4203065"/>
            <a:ext cx="4754880" cy="156083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1270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50965" y="4203065"/>
            <a:ext cx="81915" cy="1575435"/>
          </a:xfrm>
          <a:prstGeom prst="roundRect">
            <a:avLst>
              <a:gd name="adj" fmla="val 12000"/>
            </a:avLst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 Box 33"/>
          <p:cNvSpPr txBox="1"/>
          <p:nvPr/>
        </p:nvSpPr>
        <p:spPr>
          <a:xfrm>
            <a:off x="6516370" y="4289425"/>
            <a:ext cx="469011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solidFill>
                  <a:schemeClr val="tx2"/>
                </a:solidFill>
                <a:latin typeface="Microsoft YaHei" panose="020B0503020204020204" charset="-122"/>
                <a:ea typeface="Microsoft YaHei" panose="020B0503020204020204" charset="-122"/>
              </a:rPr>
              <a:t>The analysis helps demonstrate how machine learning can support targeted marketing, improve customer understanding, and enable more informed business decisions.</a:t>
            </a:r>
            <a:endParaRPr lang="en-US" altLang="en-US" b="1">
              <a:solidFill>
                <a:schemeClr val="tx2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BC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5" name="Oval 104"/>
          <p:cNvSpPr/>
          <p:nvPr/>
        </p:nvSpPr>
        <p:spPr>
          <a:xfrm>
            <a:off x="1362456" y="6108192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402568" y="1124712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188719" y="6108192"/>
            <a:ext cx="42976" cy="42976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1201400" y="1124712"/>
            <a:ext cx="42976" cy="42976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014983" y="6108192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000232" y="1124712"/>
            <a:ext cx="32004" cy="32004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841248" y="6108192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799064" y="1124712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67512" y="6108192"/>
            <a:ext cx="42976" cy="42976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597896" y="1124712"/>
            <a:ext cx="42976" cy="42976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93776" y="6108192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396728" y="1124712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20040" y="6108192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195560" y="1124712"/>
            <a:ext cx="32004" cy="32004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362456" y="5952744"/>
            <a:ext cx="42976" cy="42976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1402568" y="923544"/>
            <a:ext cx="42976" cy="42976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188719" y="5952744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1201400" y="923544"/>
            <a:ext cx="32004" cy="32004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14983" y="5952744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1000232" y="923544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41248" y="5952744"/>
            <a:ext cx="42976" cy="42976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799064" y="923544"/>
            <a:ext cx="42976" cy="42976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67512" y="5952744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597896" y="923544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93776" y="5952744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396728" y="923544"/>
            <a:ext cx="32004" cy="32004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20040" y="5952744"/>
            <a:ext cx="42976" cy="42976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195560" y="923544"/>
            <a:ext cx="42976" cy="42976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362456" y="5797296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1402568" y="722376"/>
            <a:ext cx="32004" cy="32004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88719" y="5797296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1201400" y="722376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14983" y="5797296"/>
            <a:ext cx="42976" cy="42976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1000232" y="722376"/>
            <a:ext cx="42976" cy="42976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41248" y="5797296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799064" y="722376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67512" y="5797296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597896" y="722376"/>
            <a:ext cx="32004" cy="32004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93776" y="5797296"/>
            <a:ext cx="42976" cy="42976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396728" y="722376"/>
            <a:ext cx="42976" cy="42976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20040" y="5797296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195560" y="722376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362456" y="5641848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402568" y="521207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88719" y="5641848"/>
            <a:ext cx="42976" cy="42976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201400" y="521207"/>
            <a:ext cx="42976" cy="42976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14983" y="5641848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1000232" y="521207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41248" y="5641848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799064" y="521207"/>
            <a:ext cx="32004" cy="32004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67512" y="5641848"/>
            <a:ext cx="42976" cy="42976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597896" y="521207"/>
            <a:ext cx="42976" cy="42976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93776" y="5641848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396728" y="521207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20040" y="5641848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195560" y="521207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362456" y="5486400"/>
            <a:ext cx="42976" cy="42976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402568" y="320040"/>
            <a:ext cx="42976" cy="42976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88719" y="5486400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01400" y="320040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14983" y="5486400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000232" y="320040"/>
            <a:ext cx="32004" cy="32004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1248" y="5486400"/>
            <a:ext cx="42976" cy="42976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799064" y="320040"/>
            <a:ext cx="42976" cy="42976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67512" y="5486400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597896" y="320040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93776" y="5486400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396728" y="320040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20040" y="5486400"/>
            <a:ext cx="42976" cy="42976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95560" y="320040"/>
            <a:ext cx="42976" cy="42976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02920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chemeClr val="tx2"/>
                </a:solidFill>
                <a:latin typeface="Microsoft YaHei" panose="020B0503020204020204" charset="-122"/>
                <a:ea typeface="Microsoft YaHei" panose="020B0503020204020204" charset="-122"/>
              </a:rPr>
              <a:t>04 / TECHNOLOGY STACK</a:t>
            </a:r>
            <a:endParaRPr b="1" i="0">
              <a:solidFill>
                <a:schemeClr val="tx2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3429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6F7F9"/>
                </a:solidFill>
                <a:latin typeface="Microsoft YaHei" panose="020B0503020204020204" charset="-122"/>
                <a:ea typeface="Microsoft YaHei" panose="020B0503020204020204" charset="-122"/>
              </a:rPr>
              <a:t>The tools behind the workflow</a:t>
            </a:r>
            <a:endParaRPr sz="2000" b="1" i="0">
              <a:solidFill>
                <a:srgbClr val="F6F7F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1097280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b="1" i="0">
                <a:solidFill>
                  <a:schemeClr val="tx2"/>
                </a:solidFill>
                <a:latin typeface="Microsoft YaHei" panose="020B0503020204020204" charset="-122"/>
                <a:ea typeface="Microsoft YaHei" panose="020B0503020204020204" charset="-122"/>
              </a:rPr>
              <a:t>E</a:t>
            </a:r>
            <a:r>
              <a:rPr b="1" i="0">
                <a:solidFill>
                  <a:schemeClr val="tx2"/>
                </a:solidFill>
                <a:latin typeface="Microsoft YaHei" panose="020B0503020204020204" charset="-122"/>
                <a:ea typeface="Microsoft YaHei" panose="020B0503020204020204" charset="-122"/>
              </a:rPr>
              <a:t>ach library has a specific role in the analysis pipeline.</a:t>
            </a:r>
            <a:endParaRPr b="1" i="0">
              <a:solidFill>
                <a:schemeClr val="tx2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30352" cy="41148"/>
          </a:xfrm>
          <a:prstGeom prst="rect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85800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chemeClr val="tx2"/>
                </a:solidFill>
                <a:latin typeface="Aptos"/>
              </a:rPr>
              <a:t>CUSTOMER SEGMENTATION  /  K-MEANS CLUSTERING</a:t>
            </a:r>
            <a:endParaRPr b="1" i="0">
              <a:solidFill>
                <a:schemeClr val="tx2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b="1" i="0">
                <a:solidFill>
                  <a:schemeClr val="tx2"/>
                </a:solidFill>
                <a:latin typeface="Aptos"/>
              </a:rPr>
              <a:t>05</a:t>
            </a:r>
            <a:endParaRPr b="1" i="0">
              <a:solidFill>
                <a:schemeClr val="tx2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1520" y="2057400"/>
            <a:ext cx="3429000" cy="1188720"/>
          </a:xfrm>
          <a:prstGeom prst="roundRect">
            <a:avLst>
              <a:gd name="adj" fmla="val 12000"/>
            </a:avLst>
          </a:prstGeom>
          <a:solidFill>
            <a:srgbClr val="1B2028"/>
          </a:solidFill>
          <a:ln w="12700">
            <a:solidFill>
              <a:srgbClr val="24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057400"/>
            <a:ext cx="50292" cy="1188720"/>
          </a:xfrm>
          <a:prstGeom prst="roundRect">
            <a:avLst>
              <a:gd name="adj" fmla="val 12000"/>
            </a:avLst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221992"/>
            <a:ext cx="306324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F6F7F9"/>
                </a:solidFill>
                <a:latin typeface="Aptos"/>
              </a:rPr>
              <a:t>Python</a:t>
            </a:r>
            <a:endParaRPr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2688" y="2624328"/>
            <a:ext cx="3044952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B9C2CD"/>
                </a:solidFill>
                <a:latin typeface="Aptos"/>
              </a:rPr>
              <a:t>Core implementation</a:t>
            </a:r>
            <a:endParaRPr b="1" i="0">
              <a:solidFill>
                <a:srgbClr val="B9C2CD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26280" y="2057400"/>
            <a:ext cx="3429000" cy="1188720"/>
          </a:xfrm>
          <a:prstGeom prst="roundRect">
            <a:avLst>
              <a:gd name="adj" fmla="val 12000"/>
            </a:avLst>
          </a:prstGeom>
          <a:solidFill>
            <a:srgbClr val="1B2028"/>
          </a:solidFill>
          <a:ln w="12700">
            <a:solidFill>
              <a:srgbClr val="24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80" y="2057400"/>
            <a:ext cx="50292" cy="1188720"/>
          </a:xfrm>
          <a:prstGeom prst="roundRect">
            <a:avLst>
              <a:gd name="adj" fmla="val 12000"/>
            </a:avLst>
          </a:prstGeom>
          <a:solidFill>
            <a:srgbClr val="69A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221992"/>
            <a:ext cx="306324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F6F7F9"/>
                </a:solidFill>
                <a:latin typeface="Aptos"/>
              </a:rPr>
              <a:t>NumPy</a:t>
            </a:r>
            <a:endParaRPr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27448" y="2534158"/>
            <a:ext cx="3044952" cy="589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B9C2CD"/>
                </a:solidFill>
                <a:latin typeface="Aptos"/>
              </a:rPr>
              <a:t>Synthetic data and numeric operations</a:t>
            </a:r>
            <a:endParaRPr b="1" i="0">
              <a:solidFill>
                <a:srgbClr val="B9C2CD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321040" y="2057400"/>
            <a:ext cx="3429000" cy="1188720"/>
          </a:xfrm>
          <a:prstGeom prst="roundRect">
            <a:avLst>
              <a:gd name="adj" fmla="val 12000"/>
            </a:avLst>
          </a:prstGeom>
          <a:solidFill>
            <a:srgbClr val="1B2028"/>
          </a:solidFill>
          <a:ln w="12700">
            <a:solidFill>
              <a:srgbClr val="24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2057400"/>
            <a:ext cx="50292" cy="1188720"/>
          </a:xfrm>
          <a:prstGeom prst="roundRect">
            <a:avLst>
              <a:gd name="adj" fmla="val 12000"/>
            </a:avLst>
          </a:prstGeom>
          <a:solidFill>
            <a:srgbClr val="EFB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2208" y="2221992"/>
            <a:ext cx="306324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F6F7F9"/>
                </a:solidFill>
                <a:latin typeface="Aptos"/>
              </a:rPr>
              <a:t>Pandas</a:t>
            </a:r>
            <a:endParaRPr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22208" y="2624328"/>
            <a:ext cx="3044952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B9C2CD"/>
                </a:solidFill>
                <a:latin typeface="Aptos"/>
              </a:rPr>
              <a:t>Tabular data handling</a:t>
            </a:r>
            <a:endParaRPr b="1" i="0">
              <a:solidFill>
                <a:srgbClr val="B9C2CD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31520" y="3566160"/>
            <a:ext cx="3429000" cy="1188720"/>
          </a:xfrm>
          <a:prstGeom prst="roundRect">
            <a:avLst>
              <a:gd name="adj" fmla="val 12000"/>
            </a:avLst>
          </a:prstGeom>
          <a:solidFill>
            <a:srgbClr val="1B2028"/>
          </a:solidFill>
          <a:ln w="12700">
            <a:solidFill>
              <a:srgbClr val="24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3566160"/>
            <a:ext cx="50292" cy="1188720"/>
          </a:xfrm>
          <a:prstGeom prst="roundRect">
            <a:avLst>
              <a:gd name="adj" fmla="val 12000"/>
            </a:avLst>
          </a:prstGeom>
          <a:solidFill>
            <a:srgbClr val="6BC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3730752"/>
            <a:ext cx="306324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F6F7F9"/>
                </a:solidFill>
                <a:latin typeface="Aptos"/>
              </a:rPr>
              <a:t>Scikit-learn</a:t>
            </a:r>
            <a:endParaRPr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32688" y="4133087"/>
            <a:ext cx="3044952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B9C2CD"/>
                </a:solidFill>
                <a:latin typeface="Aptos"/>
              </a:rPr>
              <a:t>Scaling and K-Means model</a:t>
            </a:r>
            <a:endParaRPr b="1" i="0">
              <a:solidFill>
                <a:srgbClr val="B9C2CD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526280" y="3566160"/>
            <a:ext cx="3429000" cy="1188720"/>
          </a:xfrm>
          <a:prstGeom prst="roundRect">
            <a:avLst>
              <a:gd name="adj" fmla="val 12000"/>
            </a:avLst>
          </a:prstGeom>
          <a:solidFill>
            <a:srgbClr val="1B2028"/>
          </a:solidFill>
          <a:ln w="12700">
            <a:solidFill>
              <a:srgbClr val="24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26280" y="3566160"/>
            <a:ext cx="50292" cy="1188720"/>
          </a:xfrm>
          <a:prstGeom prst="roundRect">
            <a:avLst>
              <a:gd name="adj" fmla="val 12000"/>
            </a:avLst>
          </a:prstGeom>
          <a:solidFill>
            <a:srgbClr val="EE7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27448" y="3730752"/>
            <a:ext cx="306324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F6F7F9"/>
                </a:solidFill>
                <a:latin typeface="Aptos"/>
              </a:rPr>
              <a:t>Matplotlib</a:t>
            </a:r>
            <a:endParaRPr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727448" y="4133087"/>
            <a:ext cx="3044952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B9C2CD"/>
                </a:solidFill>
                <a:latin typeface="Aptos"/>
              </a:rPr>
              <a:t>Charts and plotting</a:t>
            </a:r>
            <a:endParaRPr b="1" i="0">
              <a:solidFill>
                <a:srgbClr val="B9C2CD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321040" y="3566160"/>
            <a:ext cx="3429000" cy="1188720"/>
          </a:xfrm>
          <a:prstGeom prst="roundRect">
            <a:avLst>
              <a:gd name="adj" fmla="val 12000"/>
            </a:avLst>
          </a:prstGeom>
          <a:solidFill>
            <a:srgbClr val="1B2028"/>
          </a:solidFill>
          <a:ln w="12700">
            <a:solidFill>
              <a:srgbClr val="24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21040" y="3566160"/>
            <a:ext cx="50292" cy="1188720"/>
          </a:xfrm>
          <a:prstGeom prst="roundRect">
            <a:avLst>
              <a:gd name="adj" fmla="val 12000"/>
            </a:avLst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22208" y="3730752"/>
            <a:ext cx="306324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F6F7F9"/>
                </a:solidFill>
                <a:latin typeface="Aptos"/>
              </a:rPr>
              <a:t>Seaborn</a:t>
            </a:r>
            <a:endParaRPr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522208" y="4133087"/>
            <a:ext cx="3044952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B9C2CD"/>
                </a:solidFill>
                <a:latin typeface="Aptos"/>
              </a:rPr>
              <a:t>Statistical visualizations</a:t>
            </a:r>
            <a:endParaRPr b="1" i="0">
              <a:solidFill>
                <a:srgbClr val="B9C2CD"/>
              </a:solidFill>
              <a:latin typeface="Aptos"/>
            </a:endParaRPr>
          </a:p>
        </p:txBody>
      </p:sp>
      <p:sp>
        <p:nvSpPr>
          <p:cNvPr id="117" name="Text Box 116"/>
          <p:cNvSpPr txBox="1"/>
          <p:nvPr/>
        </p:nvSpPr>
        <p:spPr>
          <a:xfrm>
            <a:off x="1448435" y="4919345"/>
            <a:ext cx="1087056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</a:rPr>
              <a:t>Programming Language: Python is used to implement the customer segmentation process.</a:t>
            </a:r>
            <a:endParaRPr lang="en-US" altLang="en-US" b="1">
              <a:latin typeface="Arial" panose="020B0604020202020204" pitchFamily="34" charset="0"/>
              <a:ea typeface="Microsoft YaHei" panose="020B0503020204020204" charset="-122"/>
              <a:cs typeface="Arial" panose="020B0604020202020204" pitchFamily="34" charset="0"/>
            </a:endParaRPr>
          </a:p>
          <a:p>
            <a:r>
              <a:rPr lang="en-US" altLang="en-US" b="1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</a:rPr>
              <a:t>Libraries: NumPy and Pandas handle data processing, while Matplotlib and Seaborn visualise customer patterns.</a:t>
            </a:r>
            <a:endParaRPr lang="en-US" altLang="en-US" b="1">
              <a:latin typeface="Arial" panose="020B0604020202020204" pitchFamily="34" charset="0"/>
              <a:ea typeface="Microsoft YaHei" panose="020B0503020204020204" charset="-122"/>
              <a:cs typeface="Arial" panose="020B0604020202020204" pitchFamily="34" charset="0"/>
            </a:endParaRPr>
          </a:p>
          <a:p>
            <a:r>
              <a:rPr lang="en-US" altLang="en-US" b="1">
                <a:latin typeface="Arial" panose="020B0604020202020204" pitchFamily="34" charset="0"/>
                <a:ea typeface="Microsoft YaHei" panose="020B0503020204020204" charset="-122"/>
                <a:cs typeface="Arial" panose="020B0604020202020204" pitchFamily="34" charset="0"/>
              </a:rPr>
              <a:t>Machine Learning: Scikit-learn provides StandardScaler and the K-Means clustering algorithm to group customers based on their features.</a:t>
            </a:r>
            <a:endParaRPr lang="en-US" b="1">
              <a:latin typeface="Arial" panose="020B0604020202020204" pitchFamily="34" charset="0"/>
              <a:ea typeface="Microsoft YaHei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BC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3" name="Rectangle 42"/>
          <p:cNvSpPr/>
          <p:nvPr/>
        </p:nvSpPr>
        <p:spPr>
          <a:xfrm>
            <a:off x="768096" y="6062472"/>
            <a:ext cx="109728" cy="32004"/>
          </a:xfrm>
          <a:prstGeom prst="rect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119104" y="329184"/>
            <a:ext cx="109728" cy="32004"/>
          </a:xfrm>
          <a:prstGeom prst="rect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6928" y="6062472"/>
            <a:ext cx="109728" cy="32004"/>
          </a:xfrm>
          <a:prstGeom prst="rect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917936" y="329184"/>
            <a:ext cx="109728" cy="32004"/>
          </a:xfrm>
          <a:prstGeom prst="rect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6062472"/>
            <a:ext cx="109728" cy="32004"/>
          </a:xfrm>
          <a:prstGeom prst="rect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716768" y="329184"/>
            <a:ext cx="109728" cy="32004"/>
          </a:xfrm>
          <a:prstGeom prst="rect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01168" y="5897880"/>
            <a:ext cx="1417320" cy="384048"/>
          </a:xfrm>
          <a:prstGeom prst="roundRect">
            <a:avLst/>
          </a:prstGeom>
          <a:solidFill>
            <a:srgbClr val="1B1722"/>
          </a:solidFill>
          <a:ln w="10160">
            <a:solidFill>
              <a:srgbClr val="D6B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561320" y="164592"/>
            <a:ext cx="1234440" cy="438912"/>
          </a:xfrm>
          <a:prstGeom prst="roundRect">
            <a:avLst/>
          </a:prstGeom>
          <a:solidFill>
            <a:srgbClr val="1B1722"/>
          </a:solidFill>
          <a:ln w="10160">
            <a:solidFill>
              <a:srgbClr val="D6B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02920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chemeClr val="tx2"/>
                </a:solidFill>
                <a:latin typeface="Microsoft YaHei" panose="020B0503020204020204" charset="-122"/>
                <a:ea typeface="Microsoft YaHei" panose="020B0503020204020204" charset="-122"/>
              </a:rPr>
              <a:t>05 / DATASET</a:t>
            </a:r>
            <a:endParaRPr b="1" i="0">
              <a:solidFill>
                <a:schemeClr val="tx2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202731"/>
                </a:solidFill>
                <a:latin typeface="Aptos"/>
              </a:rPr>
              <a:t>A reproducible synthetic dataset</a:t>
            </a:r>
            <a:endParaRPr sz="2700" b="1" i="0">
              <a:solidFill>
                <a:srgbClr val="20273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1097280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chemeClr val="tx2"/>
                </a:solidFill>
                <a:latin typeface="Microsoft YaHei" panose="020B0503020204020204" charset="-122"/>
                <a:ea typeface="Microsoft YaHei" panose="020B0503020204020204" charset="-122"/>
              </a:rPr>
              <a:t>The code generates 200 simulated customer records for demonstration.</a:t>
            </a:r>
            <a:endParaRPr b="1" i="0">
              <a:solidFill>
                <a:schemeClr val="tx2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30352" cy="41148"/>
          </a:xfrm>
          <a:prstGeom prst="rect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85800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b="1" i="0">
                <a:solidFill>
                  <a:schemeClr val="tx2"/>
                </a:solidFill>
                <a:latin typeface="Aptos"/>
              </a:rPr>
              <a:t>C</a:t>
            </a:r>
            <a:r>
              <a:rPr b="1" i="0">
                <a:solidFill>
                  <a:schemeClr val="tx2"/>
                </a:solidFill>
                <a:latin typeface="Aptos"/>
              </a:rPr>
              <a:t>USTOMER SEGMENTATION  /  K-MEANS CLUSTERING</a:t>
            </a:r>
            <a:endParaRPr b="1" i="0">
              <a:solidFill>
                <a:schemeClr val="tx2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b="1" i="0">
                <a:solidFill>
                  <a:srgbClr val="5B6777"/>
                </a:solidFill>
                <a:latin typeface="Microsoft YaHei" panose="020B0503020204020204" charset="-122"/>
                <a:ea typeface="Microsoft YaHei" panose="020B0503020204020204" charset="-122"/>
              </a:rPr>
              <a:t>06</a:t>
            </a:r>
            <a:endParaRPr b="1" i="0">
              <a:solidFill>
                <a:srgbClr val="5B677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5800" y="2011680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1270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011680"/>
            <a:ext cx="50292" cy="1508760"/>
          </a:xfrm>
          <a:prstGeom prst="roundRect">
            <a:avLst>
              <a:gd name="adj" fmla="val 12000"/>
            </a:avLst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073402"/>
            <a:ext cx="306324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202731"/>
                </a:solidFill>
                <a:latin typeface="Aptos"/>
              </a:rPr>
              <a:t>CUSTOMER ID</a:t>
            </a:r>
            <a:endParaRPr b="1" i="0">
              <a:solidFill>
                <a:srgbClr val="202731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6968" y="2578608"/>
            <a:ext cx="3044952" cy="589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5B6777"/>
                </a:solidFill>
                <a:latin typeface="Microsoft YaHei" panose="020B0503020204020204" charset="-122"/>
                <a:ea typeface="Microsoft YaHei" panose="020B0503020204020204" charset="-122"/>
              </a:rPr>
              <a:t>Sequential identifier for each generated record</a:t>
            </a:r>
            <a:r>
              <a:rPr sz="1400" b="0" i="0">
                <a:solidFill>
                  <a:srgbClr val="5B6777"/>
                </a:solidFill>
                <a:latin typeface="Aptos"/>
              </a:rPr>
              <a:t>.</a:t>
            </a:r>
            <a:endParaRPr sz="1400" b="0" i="0">
              <a:solidFill>
                <a:srgbClr val="5B6777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389120" y="2011680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1270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2011680"/>
            <a:ext cx="50292" cy="1508760"/>
          </a:xfrm>
          <a:prstGeom prst="roundRect">
            <a:avLst>
              <a:gd name="adj" fmla="val 12000"/>
            </a:avLst>
          </a:prstGeom>
          <a:solidFill>
            <a:srgbClr val="69A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1873" y="2081022"/>
            <a:ext cx="306324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202731"/>
                </a:solidFill>
                <a:latin typeface="Aptos"/>
              </a:rPr>
              <a:t>ANNUAL INCOME</a:t>
            </a:r>
            <a:endParaRPr b="1" i="0">
              <a:solidFill>
                <a:srgbClr val="202731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80763" y="2354453"/>
            <a:ext cx="3044952" cy="1143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5B6777"/>
                </a:solidFill>
                <a:latin typeface="Microsoft YaHei" panose="020B0503020204020204" charset="-122"/>
                <a:ea typeface="Microsoft YaHei" panose="020B0503020204020204" charset="-122"/>
              </a:rPr>
              <a:t>Generated income values, clipped to a plausible range and represented in thousands of dollars.</a:t>
            </a:r>
            <a:endParaRPr b="1" i="0">
              <a:solidFill>
                <a:srgbClr val="5B677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092440" y="2011680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1270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2440" y="2011680"/>
            <a:ext cx="50292" cy="1508760"/>
          </a:xfrm>
          <a:prstGeom prst="roundRect">
            <a:avLst>
              <a:gd name="adj" fmla="val 12000"/>
            </a:avLst>
          </a:prstGeom>
          <a:solidFill>
            <a:srgbClr val="EFB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6778" y="2088642"/>
            <a:ext cx="306324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202731"/>
                </a:solidFill>
                <a:latin typeface="Aptos"/>
              </a:rPr>
              <a:t>SPENDING SCORE</a:t>
            </a:r>
            <a:endParaRPr b="1" i="0">
              <a:solidFill>
                <a:srgbClr val="202731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75193" y="2447163"/>
            <a:ext cx="3044952" cy="8661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5B6777"/>
                </a:solidFill>
                <a:latin typeface="Microsoft YaHei" panose="020B0503020204020204" charset="-122"/>
                <a:ea typeface="Microsoft YaHei" panose="020B0503020204020204" charset="-122"/>
              </a:rPr>
              <a:t>Generated score from 1 to 100 to represent spending behaviour.</a:t>
            </a:r>
            <a:endParaRPr b="1" i="0">
              <a:solidFill>
                <a:srgbClr val="5B677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7240" y="4069080"/>
            <a:ext cx="1078992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chemeClr val="tx2"/>
                </a:solidFill>
                <a:latin typeface="Microsoft YaHei" panose="020B0503020204020204" charset="-122"/>
                <a:ea typeface="Microsoft YaHei" panose="020B0503020204020204" charset="-122"/>
              </a:rPr>
              <a:t>Synthetic profile pattern used in the code</a:t>
            </a:r>
            <a:endParaRPr b="1" i="0">
              <a:solidFill>
                <a:schemeClr val="tx2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22960" y="4572000"/>
            <a:ext cx="3246120" cy="96012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1270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663440"/>
            <a:ext cx="5943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02731"/>
                </a:solidFill>
                <a:latin typeface="Aptos"/>
              </a:rPr>
              <a:t>50</a:t>
            </a:r>
            <a:endParaRPr sz="2400" b="1" i="0">
              <a:solidFill>
                <a:srgbClr val="202731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45920" y="4663440"/>
            <a:ext cx="219456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5B6777"/>
                </a:solidFill>
                <a:latin typeface="Aptos"/>
              </a:rPr>
              <a:t>lower income</a:t>
            </a:r>
            <a:endParaRPr b="1" i="0">
              <a:solidFill>
                <a:srgbClr val="5B6777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645920" y="4956048"/>
            <a:ext cx="219456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5B6777"/>
                </a:solidFill>
                <a:latin typeface="Aptos"/>
              </a:rPr>
              <a:t>higher spending</a:t>
            </a:r>
            <a:endParaRPr b="1" i="0">
              <a:solidFill>
                <a:srgbClr val="5B6777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572000" y="4572000"/>
            <a:ext cx="3246120" cy="96012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1270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36592" y="4663440"/>
            <a:ext cx="5943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02731"/>
                </a:solidFill>
                <a:latin typeface="Aptos"/>
              </a:rPr>
              <a:t>100</a:t>
            </a:r>
            <a:endParaRPr sz="2400" b="1" i="0">
              <a:solidFill>
                <a:srgbClr val="202731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394960" y="4663440"/>
            <a:ext cx="219456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5B6777"/>
                </a:solidFill>
                <a:latin typeface="Aptos"/>
              </a:rPr>
              <a:t>middle income</a:t>
            </a:r>
            <a:endParaRPr b="1" i="0">
              <a:solidFill>
                <a:srgbClr val="5B6777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394960" y="4956048"/>
            <a:ext cx="219456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5B6777"/>
                </a:solidFill>
                <a:latin typeface="Aptos"/>
              </a:rPr>
              <a:t>middle spending</a:t>
            </a:r>
            <a:endParaRPr b="1" i="0">
              <a:solidFill>
                <a:srgbClr val="5B6777"/>
              </a:solidFill>
              <a:latin typeface="Apto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321040" y="4572000"/>
            <a:ext cx="3246120" cy="96012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1270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85632" y="4663440"/>
            <a:ext cx="5943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02731"/>
                </a:solidFill>
                <a:latin typeface="Aptos"/>
              </a:rPr>
              <a:t>50</a:t>
            </a:r>
            <a:endParaRPr sz="2400" b="1" i="0">
              <a:solidFill>
                <a:srgbClr val="202731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144000" y="4663440"/>
            <a:ext cx="219456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5B6777"/>
                </a:solidFill>
                <a:latin typeface="Aptos"/>
              </a:rPr>
              <a:t>higher income</a:t>
            </a:r>
            <a:endParaRPr b="1" i="0">
              <a:solidFill>
                <a:srgbClr val="5B6777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144000" y="4956048"/>
            <a:ext cx="219456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5B6777"/>
                </a:solidFill>
                <a:latin typeface="Aptos"/>
              </a:rPr>
              <a:t>lower spending</a:t>
            </a:r>
            <a:endParaRPr b="1" i="0">
              <a:solidFill>
                <a:srgbClr val="5B677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BC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Oval 30"/>
          <p:cNvSpPr/>
          <p:nvPr/>
        </p:nvSpPr>
        <p:spPr>
          <a:xfrm>
            <a:off x="10972800" y="502920"/>
            <a:ext cx="457200" cy="457200"/>
          </a:xfrm>
          <a:prstGeom prst="ellipse">
            <a:avLst/>
          </a:prstGeom>
          <a:solidFill>
            <a:srgbClr val="CFB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789920" y="320040"/>
            <a:ext cx="822960" cy="822960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607040" y="137160"/>
            <a:ext cx="1188720" cy="1188720"/>
          </a:xfrm>
          <a:prstGeom prst="ellipse">
            <a:avLst/>
          </a:prstGeom>
          <a:solidFill>
            <a:srgbClr val="1B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arallelogram 27"/>
          <p:cNvSpPr/>
          <p:nvPr/>
        </p:nvSpPr>
        <p:spPr>
          <a:xfrm>
            <a:off x="10789920" y="6345936"/>
            <a:ext cx="1417320" cy="118872"/>
          </a:xfrm>
          <a:prstGeom prst="parallelogram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875520" y="6510528"/>
            <a:ext cx="2377440" cy="347472"/>
          </a:xfrm>
          <a:prstGeom prst="parallelogram">
            <a:avLst/>
          </a:prstGeom>
          <a:solidFill>
            <a:srgbClr val="1B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arallelogram 25"/>
          <p:cNvSpPr/>
          <p:nvPr/>
        </p:nvSpPr>
        <p:spPr>
          <a:xfrm>
            <a:off x="0" y="292608"/>
            <a:ext cx="1554480" cy="128016"/>
          </a:xfrm>
          <a:prstGeom prst="parallelogram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arallelogram 24"/>
          <p:cNvSpPr/>
          <p:nvPr/>
        </p:nvSpPr>
        <p:spPr>
          <a:xfrm>
            <a:off x="0" y="0"/>
            <a:ext cx="2286000" cy="347472"/>
          </a:xfrm>
          <a:prstGeom prst="parallelogram">
            <a:avLst/>
          </a:prstGeom>
          <a:solidFill>
            <a:srgbClr val="1B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82981"/>
            <a:ext cx="502920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40D0BE"/>
                </a:solidFill>
                <a:latin typeface="Aptos"/>
              </a:rPr>
              <a:t>0</a:t>
            </a:r>
            <a:r>
              <a:rPr b="1" i="0">
                <a:solidFill>
                  <a:schemeClr val="tx2"/>
                </a:solidFill>
                <a:latin typeface="Microsoft YaHei" panose="020B0503020204020204" charset="-122"/>
                <a:ea typeface="Microsoft YaHei" panose="020B0503020204020204" charset="-122"/>
              </a:rPr>
              <a:t>6 / EXPLORE THE DATA</a:t>
            </a:r>
            <a:endParaRPr b="1" i="0">
              <a:solidFill>
                <a:schemeClr val="tx2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233" y="843788"/>
            <a:ext cx="10972800" cy="3429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6F7F9"/>
                </a:solidFill>
                <a:latin typeface="Microsoft YaHei" panose="020B0503020204020204" charset="-122"/>
                <a:ea typeface="Microsoft YaHei" panose="020B0503020204020204" charset="-122"/>
              </a:rPr>
              <a:t>First look: feature distributions</a:t>
            </a:r>
            <a:endParaRPr sz="2000" b="1" i="0">
              <a:solidFill>
                <a:srgbClr val="F6F7F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1097280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chemeClr val="tx2"/>
                </a:solidFill>
                <a:latin typeface="Microsoft YaHei" panose="020B0503020204020204" charset="-122"/>
                <a:ea typeface="Microsoft YaHei" panose="020B0503020204020204" charset="-122"/>
              </a:rPr>
              <a:t>The supplied histograms summarize age, annual income and spending score.</a:t>
            </a:r>
            <a:endParaRPr b="1" i="0">
              <a:solidFill>
                <a:schemeClr val="tx2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30352" cy="41148"/>
          </a:xfrm>
          <a:prstGeom prst="rect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85800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b="1" i="0">
                <a:solidFill>
                  <a:schemeClr val="tx2"/>
                </a:solidFill>
                <a:latin typeface="Microsoft YaHei" panose="020B0503020204020204" charset="-122"/>
                <a:ea typeface="Microsoft YaHei" panose="020B0503020204020204" charset="-122"/>
              </a:rPr>
              <a:t>C</a:t>
            </a:r>
            <a:r>
              <a:rPr b="1" i="0">
                <a:solidFill>
                  <a:schemeClr val="tx2"/>
                </a:solidFill>
                <a:latin typeface="Microsoft YaHei" panose="020B0503020204020204" charset="-122"/>
                <a:ea typeface="Microsoft YaHei" panose="020B0503020204020204" charset="-122"/>
              </a:rPr>
              <a:t>USTOMER SEGMENTATION  /  K-MEANS CLUSTERING</a:t>
            </a:r>
            <a:endParaRPr b="1" i="0">
              <a:solidFill>
                <a:schemeClr val="tx2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64240" y="6539357"/>
            <a:ext cx="50292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b="1" i="0">
                <a:solidFill>
                  <a:schemeClr val="bg1"/>
                </a:solidFill>
                <a:latin typeface="Aptos"/>
              </a:rPr>
              <a:t>07</a:t>
            </a:r>
            <a:endParaRPr b="1" i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5800" y="1920240"/>
            <a:ext cx="6720840" cy="406908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1270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0000697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7" y="3030194"/>
            <a:ext cx="6501384" cy="184917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726680" y="2057400"/>
            <a:ext cx="3703955" cy="1143000"/>
          </a:xfrm>
          <a:prstGeom prst="roundRect">
            <a:avLst>
              <a:gd name="adj" fmla="val 12000"/>
            </a:avLst>
          </a:prstGeom>
          <a:solidFill>
            <a:srgbClr val="1B2028"/>
          </a:solidFill>
          <a:ln w="12700">
            <a:solidFill>
              <a:srgbClr val="24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26679" y="2057400"/>
            <a:ext cx="50292" cy="1143000"/>
          </a:xfrm>
          <a:prstGeom prst="roundRect">
            <a:avLst>
              <a:gd name="adj" fmla="val 12000"/>
            </a:avLst>
          </a:prstGeom>
          <a:solidFill>
            <a:srgbClr val="69A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0873" y="2151507"/>
            <a:ext cx="320040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F6F7F9"/>
                </a:solidFill>
                <a:latin typeface="Aptos"/>
              </a:rPr>
              <a:t>AGE</a:t>
            </a:r>
            <a:endParaRPr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00873" y="2476373"/>
            <a:ext cx="3182112" cy="589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B9C2CD"/>
                </a:solidFill>
                <a:latin typeface="Microsoft YaHei" panose="020B0503020204020204" charset="-122"/>
                <a:ea typeface="Microsoft YaHei" panose="020B0503020204020204" charset="-122"/>
              </a:rPr>
              <a:t>Generated between 18 and 69 years.</a:t>
            </a:r>
            <a:endParaRPr b="1" i="0">
              <a:solidFill>
                <a:srgbClr val="B9C2C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726680" y="3429000"/>
            <a:ext cx="3679190" cy="1143000"/>
          </a:xfrm>
          <a:prstGeom prst="roundRect">
            <a:avLst>
              <a:gd name="adj" fmla="val 12000"/>
            </a:avLst>
          </a:prstGeom>
          <a:solidFill>
            <a:srgbClr val="1B2028"/>
          </a:solidFill>
          <a:ln w="12700">
            <a:solidFill>
              <a:srgbClr val="24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26679" y="3429000"/>
            <a:ext cx="50292" cy="1143000"/>
          </a:xfrm>
          <a:prstGeom prst="roundRect">
            <a:avLst>
              <a:gd name="adj" fmla="val 12000"/>
            </a:avLst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3593592"/>
            <a:ext cx="320040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F6F7F9"/>
                </a:solidFill>
                <a:latin typeface="Aptos"/>
              </a:rPr>
              <a:t>INCOME</a:t>
            </a:r>
            <a:endParaRPr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91780" y="3887470"/>
            <a:ext cx="3387725" cy="589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B9C2CD"/>
                </a:solidFill>
                <a:latin typeface="Microsoft YaHei" panose="020B0503020204020204" charset="-122"/>
                <a:ea typeface="Microsoft YaHei" panose="020B0503020204020204" charset="-122"/>
              </a:rPr>
              <a:t>Concentrated around the three synthetic profile bands.</a:t>
            </a:r>
            <a:endParaRPr b="1" i="0">
              <a:solidFill>
                <a:srgbClr val="B9C2C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726680" y="4800600"/>
            <a:ext cx="3703955" cy="1092200"/>
          </a:xfrm>
          <a:prstGeom prst="roundRect">
            <a:avLst>
              <a:gd name="adj" fmla="val 12000"/>
            </a:avLst>
          </a:prstGeom>
          <a:solidFill>
            <a:srgbClr val="1B2028"/>
          </a:solidFill>
          <a:ln w="12700">
            <a:solidFill>
              <a:srgbClr val="24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26679" y="4800600"/>
            <a:ext cx="50292" cy="960120"/>
          </a:xfrm>
          <a:prstGeom prst="roundRect">
            <a:avLst>
              <a:gd name="adj" fmla="val 12000"/>
            </a:avLst>
          </a:prstGeom>
          <a:solidFill>
            <a:srgbClr val="EFB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13243" y="4891532"/>
            <a:ext cx="320040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F6F7F9"/>
                </a:solidFill>
                <a:latin typeface="Aptos"/>
              </a:rPr>
              <a:t>SPENDING</a:t>
            </a:r>
            <a:endParaRPr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91780" y="5227955"/>
            <a:ext cx="3538220" cy="589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B9C2CD"/>
                </a:solidFill>
                <a:latin typeface="Aptos"/>
              </a:rPr>
              <a:t>Values are clipped to a 1–100 range.</a:t>
            </a:r>
            <a:endParaRPr b="1" i="0">
              <a:solidFill>
                <a:srgbClr val="B9C2C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BC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Arc 29"/>
          <p:cNvSpPr/>
          <p:nvPr/>
        </p:nvSpPr>
        <p:spPr>
          <a:xfrm>
            <a:off x="45720" y="45720"/>
            <a:ext cx="1965960" cy="1463040"/>
          </a:xfrm>
          <a:prstGeom prst="arc">
            <a:avLst/>
          </a:prstGeom>
          <a:noFill/>
          <a:ln w="20320">
            <a:solidFill>
              <a:srgbClr val="D6B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771632" y="5614416"/>
            <a:ext cx="1993392" cy="1993392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652760" y="5532120"/>
            <a:ext cx="2286000" cy="2286000"/>
          </a:xfrm>
          <a:prstGeom prst="ellipse">
            <a:avLst/>
          </a:prstGeom>
          <a:solidFill>
            <a:srgbClr val="1B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-640080" y="-621792"/>
            <a:ext cx="2029968" cy="2029968"/>
          </a:xfrm>
          <a:prstGeom prst="ellipse">
            <a:avLst/>
          </a:prstGeom>
          <a:solidFill>
            <a:srgbClr val="CFB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-841248" y="-804672"/>
            <a:ext cx="2423160" cy="2423160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-1005840" y="-960120"/>
            <a:ext cx="2743200" cy="2743200"/>
          </a:xfrm>
          <a:prstGeom prst="ellipse">
            <a:avLst/>
          </a:prstGeom>
          <a:solidFill>
            <a:srgbClr val="1B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553" y="192786"/>
            <a:ext cx="502920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rPr>
              <a:t>07 / RELATIONSHIP</a:t>
            </a:r>
            <a:endParaRPr b="1" i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27758" y="589788"/>
            <a:ext cx="10972800" cy="3429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sz="2000" b="1" i="0">
                <a:solidFill>
                  <a:schemeClr val="bg1"/>
                </a:solidFill>
                <a:latin typeface="Aptos"/>
              </a:rPr>
              <a:t>In</a:t>
            </a:r>
            <a:r>
              <a:rPr sz="2000" b="1" i="0">
                <a:solidFill>
                  <a:schemeClr val="bg1"/>
                </a:solidFill>
                <a:latin typeface="Aptos"/>
              </a:rPr>
              <a:t>come vs. spending before clustering</a:t>
            </a:r>
            <a:endParaRPr sz="2000" b="1" i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65706" y="1112520"/>
            <a:ext cx="1097280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rPr>
              <a:t>The raw scatter plot shows three broad patterns embedded in the simulated data.</a:t>
            </a:r>
            <a:endParaRPr b="1" i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30352" cy="41148"/>
          </a:xfrm>
          <a:prstGeom prst="rect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85800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chemeClr val="tx1"/>
                </a:solidFill>
                <a:latin typeface="Aptos"/>
              </a:rPr>
              <a:t>CUSTOMER SEGMENTATION  /  K-MEANS CLUSTERING</a:t>
            </a:r>
            <a:endParaRPr b="1" i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b="1" i="0">
                <a:solidFill>
                  <a:schemeClr val="bg1"/>
                </a:solidFill>
                <a:latin typeface="Aptos"/>
              </a:rPr>
              <a:t>08</a:t>
            </a:r>
            <a:endParaRPr b="1" i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5800" y="1920240"/>
            <a:ext cx="6858000" cy="3977639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1270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00006970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6258" y="2011680"/>
            <a:ext cx="5497082" cy="379475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909560" y="2103120"/>
            <a:ext cx="3383280" cy="123825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1270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09560" y="2103120"/>
            <a:ext cx="50292" cy="1097280"/>
          </a:xfrm>
          <a:prstGeom prst="roundRect">
            <a:avLst>
              <a:gd name="adj" fmla="val 12000"/>
            </a:avLst>
          </a:prstGeom>
          <a:solidFill>
            <a:srgbClr val="EFB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593" y="2129917"/>
            <a:ext cx="301752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202731"/>
                </a:solidFill>
                <a:latin typeface="Aptos"/>
              </a:rPr>
              <a:t>LOWER INCOME</a:t>
            </a:r>
            <a:endParaRPr b="1" i="0">
              <a:solidFill>
                <a:srgbClr val="202731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66913" y="2407793"/>
            <a:ext cx="2999232" cy="8661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5B6777"/>
                </a:solidFill>
                <a:latin typeface="Aptos"/>
              </a:rPr>
              <a:t>A high-spending group appears in the upper-left area.</a:t>
            </a:r>
            <a:endParaRPr b="1" i="0">
              <a:solidFill>
                <a:srgbClr val="5B6777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909560" y="3474720"/>
            <a:ext cx="3383280" cy="1223645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1270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09560" y="3474720"/>
            <a:ext cx="50292" cy="1097280"/>
          </a:xfrm>
          <a:prstGeom prst="roundRect">
            <a:avLst>
              <a:gd name="adj" fmla="val 12000"/>
            </a:avLst>
          </a:prstGeom>
          <a:solidFill>
            <a:srgbClr val="69A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3566160"/>
            <a:ext cx="2760345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202731"/>
                </a:solidFill>
                <a:latin typeface="Aptos"/>
              </a:rPr>
              <a:t>MID-RANGE</a:t>
            </a:r>
            <a:endParaRPr b="1" i="0">
              <a:solidFill>
                <a:srgbClr val="202731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53070" y="3860800"/>
            <a:ext cx="3216275" cy="8661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5B6777"/>
                </a:solidFill>
                <a:latin typeface="Microsoft YaHei" panose="020B0503020204020204" charset="-122"/>
                <a:ea typeface="Microsoft YaHei" panose="020B0503020204020204" charset="-122"/>
              </a:rPr>
              <a:t>A broader group sits around moderate income and spending.</a:t>
            </a:r>
            <a:endParaRPr b="1" i="0">
              <a:solidFill>
                <a:srgbClr val="5B677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909560" y="4831080"/>
            <a:ext cx="3383280" cy="1122045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1270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09560" y="4846320"/>
            <a:ext cx="50292" cy="914400"/>
          </a:xfrm>
          <a:prstGeom prst="roundRect">
            <a:avLst>
              <a:gd name="adj" fmla="val 12000"/>
            </a:avLst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4831715"/>
            <a:ext cx="261112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202731"/>
                </a:solidFill>
                <a:latin typeface="Aptos"/>
              </a:rPr>
              <a:t>HIGHER INCOME</a:t>
            </a:r>
            <a:endParaRPr b="1" i="0">
              <a:solidFill>
                <a:srgbClr val="202731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51673" y="5077968"/>
            <a:ext cx="2999232" cy="8661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solidFill>
                  <a:srgbClr val="5B6777"/>
                </a:solidFill>
                <a:latin typeface="Aptos"/>
              </a:rPr>
              <a:t>Lower spending scores appear toward the lower-right.</a:t>
            </a:r>
            <a:endParaRPr b="1" i="0">
              <a:solidFill>
                <a:srgbClr val="5B677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BC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1" name="Arc 40"/>
          <p:cNvSpPr/>
          <p:nvPr/>
        </p:nvSpPr>
        <p:spPr>
          <a:xfrm>
            <a:off x="0" y="5440680"/>
            <a:ext cx="3657600" cy="1280160"/>
          </a:xfrm>
          <a:prstGeom prst="arc">
            <a:avLst/>
          </a:prstGeom>
          <a:noFill/>
          <a:ln w="16510">
            <a:solidFill>
              <a:srgbClr val="D6B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881360" y="-914400"/>
            <a:ext cx="2468880" cy="2468880"/>
          </a:xfrm>
          <a:prstGeom prst="ellipse">
            <a:avLst/>
          </a:prstGeom>
          <a:solidFill>
            <a:srgbClr val="B49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607040" y="-1188720"/>
            <a:ext cx="3108960" cy="3108960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-640080" y="5532120"/>
            <a:ext cx="2057400" cy="2057400"/>
          </a:xfrm>
          <a:prstGeom prst="ellipse">
            <a:avLst/>
          </a:prstGeom>
          <a:solidFill>
            <a:srgbClr val="CFB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-868680" y="5349240"/>
            <a:ext cx="2560320" cy="2560320"/>
          </a:xfrm>
          <a:prstGeom prst="ellipse">
            <a:avLst/>
          </a:prstGeom>
          <a:solidFill>
            <a:srgbClr val="B49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-1143000" y="5166360"/>
            <a:ext cx="3017520" cy="3017520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029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40D0BE"/>
                </a:solidFill>
                <a:latin typeface="Aptos"/>
              </a:rPr>
              <a:t>08 / METHOD</a:t>
            </a:r>
            <a:endParaRPr sz="900" b="1" i="0">
              <a:solidFill>
                <a:srgbClr val="40D0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7F9"/>
                </a:solidFill>
                <a:latin typeface="Aptos"/>
              </a:rPr>
              <a:t>How K-Means forms groups</a:t>
            </a:r>
            <a:endParaRPr sz="2700"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9C2CD"/>
                </a:solidFill>
                <a:latin typeface="Aptos"/>
              </a:rPr>
              <a:t>The algorithm iteratively assigns points to the nearest centroid and updates each centroid.</a:t>
            </a:r>
            <a:endParaRPr sz="1200" b="0" i="0">
              <a:solidFill>
                <a:srgbClr val="B9C2CD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30352" cy="41148"/>
          </a:xfrm>
          <a:prstGeom prst="rect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858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8995A4"/>
                </a:solidFill>
                <a:latin typeface="Aptos"/>
              </a:rPr>
              <a:t>CUSTOMER SEGMENTATION  /  K-MEANS CLUSTERING</a:t>
            </a:r>
            <a:endParaRPr sz="800" b="1" i="0">
              <a:solidFill>
                <a:srgbClr val="8995A4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8995A4"/>
                </a:solidFill>
                <a:latin typeface="Aptos"/>
              </a:rPr>
              <a:t>09</a:t>
            </a:r>
            <a:endParaRPr sz="900" b="1" i="0">
              <a:solidFill>
                <a:srgbClr val="8995A4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2423160"/>
            <a:ext cx="2011680" cy="1965960"/>
          </a:xfrm>
          <a:prstGeom prst="roundRect">
            <a:avLst>
              <a:gd name="adj" fmla="val 12000"/>
            </a:avLst>
          </a:prstGeom>
          <a:solidFill>
            <a:srgbClr val="1B2028"/>
          </a:solidFill>
          <a:ln w="12700">
            <a:solidFill>
              <a:srgbClr val="24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633472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0D0BE"/>
                </a:solidFill>
                <a:latin typeface="Aptos"/>
              </a:rPr>
              <a:t>01</a:t>
            </a:r>
            <a:endParaRPr sz="1300" b="1" i="0">
              <a:solidFill>
                <a:srgbClr val="40D0BE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59" y="3090672"/>
            <a:ext cx="16916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7F9"/>
                </a:solidFill>
                <a:latin typeface="Aptos"/>
              </a:rPr>
              <a:t>Select features</a:t>
            </a:r>
            <a:endParaRPr sz="1500"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59" y="3593592"/>
            <a:ext cx="1673352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9C2CD"/>
                </a:solidFill>
                <a:latin typeface="Aptos"/>
              </a:rPr>
              <a:t>Annual income + spending score</a:t>
            </a:r>
            <a:endParaRPr sz="1100" b="0" i="0">
              <a:solidFill>
                <a:srgbClr val="B9C2CD"/>
              </a:solidFill>
              <a:latin typeface="Aptos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3401568"/>
            <a:ext cx="256032" cy="0"/>
          </a:xfrm>
          <a:prstGeom prst="line">
            <a:avLst/>
          </a:prstGeom>
          <a:ln w="25400">
            <a:solidFill>
              <a:srgbClr val="40D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62656" y="2423160"/>
            <a:ext cx="2011680" cy="1965960"/>
          </a:xfrm>
          <a:prstGeom prst="roundRect">
            <a:avLst>
              <a:gd name="adj" fmla="val 12000"/>
            </a:avLst>
          </a:prstGeom>
          <a:solidFill>
            <a:srgbClr val="1B2028"/>
          </a:solidFill>
          <a:ln w="12700">
            <a:solidFill>
              <a:srgbClr val="24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27248" y="2633472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0D0BE"/>
                </a:solidFill>
                <a:latin typeface="Aptos"/>
              </a:rPr>
              <a:t>02</a:t>
            </a:r>
            <a:endParaRPr sz="1300" b="1" i="0">
              <a:solidFill>
                <a:srgbClr val="40D0BE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127248" y="3090672"/>
            <a:ext cx="16916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7F9"/>
                </a:solidFill>
                <a:latin typeface="Aptos"/>
              </a:rPr>
              <a:t>Scale features</a:t>
            </a:r>
            <a:endParaRPr sz="1500"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127248" y="3593592"/>
            <a:ext cx="1673352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9C2CD"/>
                </a:solidFill>
                <a:latin typeface="Aptos"/>
              </a:rPr>
              <a:t>StandardScaler puts features on a comparable scale</a:t>
            </a:r>
            <a:endParaRPr sz="1100" b="0" i="0">
              <a:solidFill>
                <a:srgbClr val="B9C2CD"/>
              </a:solidFill>
              <a:latin typeface="Aptos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4974336" y="3401568"/>
            <a:ext cx="256032" cy="0"/>
          </a:xfrm>
          <a:prstGeom prst="line">
            <a:avLst/>
          </a:prstGeom>
          <a:ln w="25400">
            <a:solidFill>
              <a:srgbClr val="40D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66944" y="2423160"/>
            <a:ext cx="2011680" cy="1965960"/>
          </a:xfrm>
          <a:prstGeom prst="roundRect">
            <a:avLst>
              <a:gd name="adj" fmla="val 12000"/>
            </a:avLst>
          </a:prstGeom>
          <a:solidFill>
            <a:srgbClr val="1B2028"/>
          </a:solidFill>
          <a:ln w="12700">
            <a:solidFill>
              <a:srgbClr val="24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6" y="2633472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0D0BE"/>
                </a:solidFill>
                <a:latin typeface="Aptos"/>
              </a:rPr>
              <a:t>03</a:t>
            </a:r>
            <a:endParaRPr sz="1300" b="1" i="0">
              <a:solidFill>
                <a:srgbClr val="40D0BE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31536" y="3090672"/>
            <a:ext cx="16916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7F9"/>
                </a:solidFill>
                <a:latin typeface="Aptos"/>
              </a:rPr>
              <a:t>Choose K</a:t>
            </a:r>
            <a:endParaRPr sz="1500"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31536" y="3593592"/>
            <a:ext cx="1673352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9C2CD"/>
                </a:solidFill>
                <a:latin typeface="Aptos"/>
              </a:rPr>
              <a:t>Elbow curve helps inspect candidate cluster counts</a:t>
            </a:r>
            <a:endParaRPr sz="1100" b="0" i="0">
              <a:solidFill>
                <a:srgbClr val="B9C2CD"/>
              </a:solidFill>
              <a:latin typeface="Aptos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7278624" y="3401568"/>
            <a:ext cx="256032" cy="0"/>
          </a:xfrm>
          <a:prstGeom prst="line">
            <a:avLst/>
          </a:prstGeom>
          <a:ln w="25400">
            <a:solidFill>
              <a:srgbClr val="40D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571232" y="2423160"/>
            <a:ext cx="2011680" cy="1965960"/>
          </a:xfrm>
          <a:prstGeom prst="roundRect">
            <a:avLst>
              <a:gd name="adj" fmla="val 12000"/>
            </a:avLst>
          </a:prstGeom>
          <a:solidFill>
            <a:srgbClr val="1B2028"/>
          </a:solidFill>
          <a:ln w="12700">
            <a:solidFill>
              <a:srgbClr val="24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35824" y="2633472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0D0BE"/>
                </a:solidFill>
                <a:latin typeface="Aptos"/>
              </a:rPr>
              <a:t>04</a:t>
            </a:r>
            <a:endParaRPr sz="1300" b="1" i="0">
              <a:solidFill>
                <a:srgbClr val="40D0BE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735824" y="3090672"/>
            <a:ext cx="16916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7F9"/>
                </a:solidFill>
                <a:latin typeface="Aptos"/>
              </a:rPr>
              <a:t>Fit K-Means</a:t>
            </a:r>
            <a:endParaRPr sz="1500"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35824" y="3593592"/>
            <a:ext cx="1673352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9C2CD"/>
                </a:solidFill>
                <a:latin typeface="Aptos"/>
              </a:rPr>
              <a:t>Assign points and update centroid locations</a:t>
            </a:r>
            <a:endParaRPr sz="1100" b="0" i="0">
              <a:solidFill>
                <a:srgbClr val="B9C2CD"/>
              </a:solidFill>
              <a:latin typeface="Aptos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9582912" y="3401568"/>
            <a:ext cx="256032" cy="0"/>
          </a:xfrm>
          <a:prstGeom prst="line">
            <a:avLst/>
          </a:prstGeom>
          <a:ln w="25400">
            <a:solidFill>
              <a:srgbClr val="40D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875520" y="2423160"/>
            <a:ext cx="2011680" cy="1965960"/>
          </a:xfrm>
          <a:prstGeom prst="roundRect">
            <a:avLst>
              <a:gd name="adj" fmla="val 12000"/>
            </a:avLst>
          </a:prstGeom>
          <a:solidFill>
            <a:srgbClr val="1B2028"/>
          </a:solidFill>
          <a:ln w="12700">
            <a:solidFill>
              <a:srgbClr val="24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0112" y="2633472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0D0BE"/>
                </a:solidFill>
                <a:latin typeface="Aptos"/>
              </a:rPr>
              <a:t>05</a:t>
            </a:r>
            <a:endParaRPr sz="1300" b="1" i="0">
              <a:solidFill>
                <a:srgbClr val="40D0BE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040112" y="3090672"/>
            <a:ext cx="16916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7F9"/>
                </a:solidFill>
                <a:latin typeface="Aptos"/>
              </a:rPr>
              <a:t>Interpret</a:t>
            </a:r>
            <a:endParaRPr sz="1500"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040112" y="3593592"/>
            <a:ext cx="1673352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9C2CD"/>
                </a:solidFill>
                <a:latin typeface="Aptos"/>
              </a:rPr>
              <a:t>Compare group positions and average profiles</a:t>
            </a:r>
            <a:endParaRPr sz="1100" b="0" i="0">
              <a:solidFill>
                <a:srgbClr val="B9C2CD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7240" y="4983480"/>
            <a:ext cx="1069848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9C2CD"/>
                </a:solidFill>
                <a:latin typeface="Aptos"/>
              </a:rPr>
              <a:t>Important: scaling is applied to the selected clustering features; the reported charts show income and spending for interpretation.</a:t>
            </a:r>
            <a:endParaRPr sz="1400" b="0" i="0">
              <a:solidFill>
                <a:srgbClr val="B9C2C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BC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Parallelogram 25"/>
          <p:cNvSpPr/>
          <p:nvPr/>
        </p:nvSpPr>
        <p:spPr>
          <a:xfrm>
            <a:off x="9966960" y="0"/>
            <a:ext cx="1645920" cy="109728"/>
          </a:xfrm>
          <a:prstGeom prst="parallelogram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arallelogram 24"/>
          <p:cNvSpPr/>
          <p:nvPr/>
        </p:nvSpPr>
        <p:spPr>
          <a:xfrm>
            <a:off x="11448288" y="5376672"/>
            <a:ext cx="146304" cy="1371600"/>
          </a:xfrm>
          <a:prstGeom prst="parallelogram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arallelogram 23"/>
          <p:cNvSpPr/>
          <p:nvPr/>
        </p:nvSpPr>
        <p:spPr>
          <a:xfrm>
            <a:off x="11631168" y="5074920"/>
            <a:ext cx="566928" cy="1783080"/>
          </a:xfrm>
          <a:prstGeom prst="parallelogram">
            <a:avLst/>
          </a:prstGeom>
          <a:solidFill>
            <a:srgbClr val="1B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arallelogram 22"/>
          <p:cNvSpPr/>
          <p:nvPr/>
        </p:nvSpPr>
        <p:spPr>
          <a:xfrm>
            <a:off x="329184" y="0"/>
            <a:ext cx="146304" cy="1325880"/>
          </a:xfrm>
          <a:prstGeom prst="parallelogram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arallelogram 21"/>
          <p:cNvSpPr/>
          <p:nvPr/>
        </p:nvSpPr>
        <p:spPr>
          <a:xfrm>
            <a:off x="0" y="0"/>
            <a:ext cx="457200" cy="1691640"/>
          </a:xfrm>
          <a:prstGeom prst="parallelogram">
            <a:avLst/>
          </a:prstGeom>
          <a:solidFill>
            <a:srgbClr val="1B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029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40D0BE"/>
                </a:solidFill>
                <a:latin typeface="Aptos"/>
              </a:rPr>
              <a:t>09 / SELECT K</a:t>
            </a:r>
            <a:endParaRPr sz="900" b="1" i="0">
              <a:solidFill>
                <a:srgbClr val="40D0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202731"/>
                </a:solidFill>
                <a:latin typeface="Aptos"/>
              </a:rPr>
              <a:t>The Elbow Method</a:t>
            </a:r>
            <a:endParaRPr sz="2700" b="1" i="0">
              <a:solidFill>
                <a:srgbClr val="20273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7"/>
                </a:solidFill>
                <a:latin typeface="Aptos"/>
              </a:rPr>
              <a:t>The supplied curve drops sharply at first, then begins to flatten around K = 3.</a:t>
            </a:r>
            <a:endParaRPr sz="1200" b="0" i="0">
              <a:solidFill>
                <a:srgbClr val="5B6777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30352" cy="41148"/>
          </a:xfrm>
          <a:prstGeom prst="rect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858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B6777"/>
                </a:solidFill>
                <a:latin typeface="Aptos"/>
              </a:rPr>
              <a:t>CUSTOMER SEGMENTATION  /  K-MEANS CLUSTERING</a:t>
            </a:r>
            <a:endParaRPr sz="800" b="1" i="0">
              <a:solidFill>
                <a:srgbClr val="5B6777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B6777"/>
                </a:solidFill>
                <a:latin typeface="Aptos"/>
              </a:rPr>
              <a:t>10</a:t>
            </a:r>
            <a:endParaRPr sz="900" b="1" i="0">
              <a:solidFill>
                <a:srgbClr val="5B6777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6675120" cy="406908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1270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00006970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4205" y="1965960"/>
            <a:ext cx="5729748" cy="38862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818120" y="2240280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1270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18120" y="2240280"/>
            <a:ext cx="50292" cy="1234440"/>
          </a:xfrm>
          <a:prstGeom prst="roundRect">
            <a:avLst>
              <a:gd name="adj" fmla="val 12000"/>
            </a:avLst>
          </a:prstGeom>
          <a:solidFill>
            <a:srgbClr val="69A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9288" y="2404872"/>
            <a:ext cx="30632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02731"/>
                </a:solidFill>
                <a:latin typeface="Aptos"/>
              </a:rPr>
              <a:t>WHAT IS WCSS?</a:t>
            </a:r>
            <a:endParaRPr sz="1500" b="1" i="0">
              <a:solidFill>
                <a:srgbClr val="202731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19288" y="2807208"/>
            <a:ext cx="3044952" cy="5760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7"/>
                </a:solidFill>
                <a:latin typeface="Aptos"/>
              </a:rPr>
              <a:t>Within-cluster sum of squares measures how tightly points sit around their assigned centroids.</a:t>
            </a:r>
            <a:endParaRPr sz="1300" b="0" i="0">
              <a:solidFill>
                <a:srgbClr val="5B6777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818120" y="3749039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1270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18120" y="3749039"/>
            <a:ext cx="50292" cy="1234440"/>
          </a:xfrm>
          <a:prstGeom prst="roundRect">
            <a:avLst>
              <a:gd name="adj" fmla="val 12000"/>
            </a:avLst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9288" y="3913631"/>
            <a:ext cx="30632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02731"/>
                </a:solidFill>
                <a:latin typeface="Aptos"/>
              </a:rPr>
              <a:t>WHY K = 3?</a:t>
            </a:r>
            <a:endParaRPr sz="1500" b="1" i="0">
              <a:solidFill>
                <a:srgbClr val="202731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19288" y="4315968"/>
            <a:ext cx="3044952" cy="5760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7"/>
                </a:solidFill>
                <a:latin typeface="Aptos"/>
              </a:rPr>
              <a:t>The elbow is used as a practical visual guide for a compact, interpretable three-group solution.</a:t>
            </a:r>
            <a:endParaRPr sz="1300" b="0" i="0">
              <a:solidFill>
                <a:srgbClr val="5B6777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955279" y="5349240"/>
            <a:ext cx="31546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5B6777"/>
                </a:solidFill>
                <a:latin typeface="Aptos"/>
              </a:rPr>
              <a:t>Heuristic choice, not proof of the only correct K.</a:t>
            </a:r>
            <a:endParaRPr sz="1100" b="0" i="1">
              <a:solidFill>
                <a:srgbClr val="5B677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BC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Oval 29"/>
          <p:cNvSpPr/>
          <p:nvPr/>
        </p:nvSpPr>
        <p:spPr>
          <a:xfrm>
            <a:off x="45720" y="5349240"/>
            <a:ext cx="1143000" cy="1143000"/>
          </a:xfrm>
          <a:prstGeom prst="ellipse">
            <a:avLst/>
          </a:prstGeom>
          <a:noFill/>
          <a:ln w="12700">
            <a:solidFill>
              <a:srgbClr val="744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27080" y="621792"/>
            <a:ext cx="1097280" cy="1097280"/>
          </a:xfrm>
          <a:prstGeom prst="ellipse">
            <a:avLst/>
          </a:prstGeom>
          <a:noFill/>
          <a:ln w="12700">
            <a:solidFill>
              <a:srgbClr val="D6B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561320" y="256032"/>
            <a:ext cx="841248" cy="841248"/>
          </a:xfrm>
          <a:prstGeom prst="ellipse">
            <a:avLst/>
          </a:prstGeom>
          <a:noFill/>
          <a:ln w="15240">
            <a:solidFill>
              <a:srgbClr val="CFB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561320" y="256032"/>
            <a:ext cx="1170432" cy="1170432"/>
          </a:xfrm>
          <a:prstGeom prst="ellipse">
            <a:avLst/>
          </a:prstGeom>
          <a:noFill/>
          <a:ln w="15240">
            <a:solidFill>
              <a:srgbClr val="B49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61320" y="256032"/>
            <a:ext cx="1508760" cy="1508760"/>
          </a:xfrm>
          <a:prstGeom prst="ellipse">
            <a:avLst/>
          </a:prstGeom>
          <a:noFill/>
          <a:ln w="15240">
            <a:solidFill>
              <a:srgbClr val="744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256032"/>
            <a:ext cx="1828800" cy="1828800"/>
          </a:xfrm>
          <a:prstGeom prst="ellipse">
            <a:avLst/>
          </a:prstGeom>
          <a:noFill/>
          <a:ln w="15240">
            <a:solidFill>
              <a:srgbClr val="D6B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029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40D0BE"/>
                </a:solidFill>
                <a:latin typeface="Aptos"/>
              </a:rPr>
              <a:t>10 / RESULTS</a:t>
            </a:r>
            <a:endParaRPr sz="900" b="1" i="0">
              <a:solidFill>
                <a:srgbClr val="40D0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7F9"/>
                </a:solidFill>
                <a:latin typeface="Aptos"/>
              </a:rPr>
              <a:t>Three clusters in two dimensions</a:t>
            </a:r>
            <a:endParaRPr sz="2700"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9C2CD"/>
                </a:solidFill>
                <a:latin typeface="Aptos"/>
              </a:rPr>
              <a:t>The final supplied 2D plot displays the customer groups and centroid markers.</a:t>
            </a:r>
            <a:endParaRPr sz="1200" b="0" i="0">
              <a:solidFill>
                <a:srgbClr val="B9C2CD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30352" cy="41148"/>
          </a:xfrm>
          <a:prstGeom prst="rect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858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8995A4"/>
                </a:solidFill>
                <a:latin typeface="Aptos"/>
              </a:rPr>
              <a:t>CUSTOMER SEGMENTATION  /  K-MEANS CLUSTERING</a:t>
            </a:r>
            <a:endParaRPr sz="800" b="1" i="0">
              <a:solidFill>
                <a:srgbClr val="8995A4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8995A4"/>
                </a:solidFill>
                <a:latin typeface="Aptos"/>
              </a:rPr>
              <a:t>11</a:t>
            </a:r>
            <a:endParaRPr sz="900" b="1" i="0">
              <a:solidFill>
                <a:srgbClr val="8995A4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6949440" cy="416052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1270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0000697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4487" y="1965960"/>
            <a:ext cx="5772064" cy="397763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955279" y="2057400"/>
            <a:ext cx="3291840" cy="1051560"/>
          </a:xfrm>
          <a:prstGeom prst="roundRect">
            <a:avLst>
              <a:gd name="adj" fmla="val 12000"/>
            </a:avLst>
          </a:prstGeom>
          <a:solidFill>
            <a:srgbClr val="1B2028"/>
          </a:solidFill>
          <a:ln w="12700">
            <a:solidFill>
              <a:srgbClr val="24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55279" y="2057400"/>
            <a:ext cx="50292" cy="1051560"/>
          </a:xfrm>
          <a:prstGeom prst="roundRect">
            <a:avLst>
              <a:gd name="adj" fmla="val 12000"/>
            </a:avLst>
          </a:prstGeom>
          <a:solidFill>
            <a:srgbClr val="EE7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2221992"/>
            <a:ext cx="29260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7F9"/>
                </a:solidFill>
                <a:latin typeface="Aptos"/>
              </a:rPr>
              <a:t>CLUSTER A</a:t>
            </a:r>
            <a:endParaRPr sz="1500"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56448" y="2624328"/>
            <a:ext cx="2907792" cy="39319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9C2CD"/>
                </a:solidFill>
                <a:latin typeface="Aptos"/>
              </a:rPr>
              <a:t>Lower income · higher spending</a:t>
            </a:r>
            <a:endParaRPr sz="1300" b="0" i="0">
              <a:solidFill>
                <a:srgbClr val="B9C2CD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955279" y="3337560"/>
            <a:ext cx="3291840" cy="1051560"/>
          </a:xfrm>
          <a:prstGeom prst="roundRect">
            <a:avLst>
              <a:gd name="adj" fmla="val 12000"/>
            </a:avLst>
          </a:prstGeom>
          <a:solidFill>
            <a:srgbClr val="1B2028"/>
          </a:solidFill>
          <a:ln w="12700">
            <a:solidFill>
              <a:srgbClr val="24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55279" y="3337560"/>
            <a:ext cx="50292" cy="1051560"/>
          </a:xfrm>
          <a:prstGeom prst="roundRect">
            <a:avLst>
              <a:gd name="adj" fmla="val 12000"/>
            </a:avLst>
          </a:prstGeom>
          <a:solidFill>
            <a:srgbClr val="69A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3502152"/>
            <a:ext cx="29260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7F9"/>
                </a:solidFill>
                <a:latin typeface="Aptos"/>
              </a:rPr>
              <a:t>CLUSTER B</a:t>
            </a:r>
            <a:endParaRPr sz="1500"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56448" y="3904487"/>
            <a:ext cx="2907792" cy="39319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9C2CD"/>
                </a:solidFill>
                <a:latin typeface="Aptos"/>
              </a:rPr>
              <a:t>Middle income · moderate spending</a:t>
            </a:r>
            <a:endParaRPr sz="1300" b="0" i="0">
              <a:solidFill>
                <a:srgbClr val="B9C2CD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955279" y="4617720"/>
            <a:ext cx="3291840" cy="1051560"/>
          </a:xfrm>
          <a:prstGeom prst="roundRect">
            <a:avLst>
              <a:gd name="adj" fmla="val 12000"/>
            </a:avLst>
          </a:prstGeom>
          <a:solidFill>
            <a:srgbClr val="1B2028"/>
          </a:solidFill>
          <a:ln w="12700">
            <a:solidFill>
              <a:srgbClr val="24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55279" y="4617720"/>
            <a:ext cx="50292" cy="1051560"/>
          </a:xfrm>
          <a:prstGeom prst="roundRect">
            <a:avLst>
              <a:gd name="adj" fmla="val 12000"/>
            </a:avLst>
          </a:prstGeom>
          <a:solidFill>
            <a:srgbClr val="6BC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56448" y="4782312"/>
            <a:ext cx="29260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7F9"/>
                </a:solidFill>
                <a:latin typeface="Aptos"/>
              </a:rPr>
              <a:t>CLUSTER C</a:t>
            </a:r>
            <a:endParaRPr sz="1500"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56448" y="5184648"/>
            <a:ext cx="2907792" cy="39319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9C2CD"/>
                </a:solidFill>
                <a:latin typeface="Aptos"/>
              </a:rPr>
              <a:t>Higher income · lower spending</a:t>
            </a:r>
            <a:endParaRPr sz="1300" b="0" i="0">
              <a:solidFill>
                <a:srgbClr val="B9C2C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BC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5" name="Oval 94"/>
          <p:cNvSpPr/>
          <p:nvPr/>
        </p:nvSpPr>
        <p:spPr>
          <a:xfrm>
            <a:off x="1362456" y="6108192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402568" y="1124712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188719" y="6108192"/>
            <a:ext cx="42976" cy="42976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201400" y="1124712"/>
            <a:ext cx="42976" cy="42976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14983" y="6108192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1000232" y="1124712"/>
            <a:ext cx="32004" cy="32004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841248" y="6108192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0799064" y="1124712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67512" y="6108192"/>
            <a:ext cx="42976" cy="42976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597896" y="1124712"/>
            <a:ext cx="42976" cy="42976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493776" y="6108192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396728" y="1124712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20040" y="6108192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195560" y="1124712"/>
            <a:ext cx="32004" cy="32004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362456" y="5952744"/>
            <a:ext cx="42976" cy="42976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1402568" y="923544"/>
            <a:ext cx="42976" cy="42976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188719" y="5952744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1201400" y="923544"/>
            <a:ext cx="32004" cy="32004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14983" y="5952744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1000232" y="923544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41248" y="5952744"/>
            <a:ext cx="42976" cy="42976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99064" y="923544"/>
            <a:ext cx="42976" cy="42976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67512" y="5952744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597896" y="923544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93776" y="5952744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396728" y="923544"/>
            <a:ext cx="32004" cy="32004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20040" y="5952744"/>
            <a:ext cx="42976" cy="42976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195560" y="923544"/>
            <a:ext cx="42976" cy="42976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362456" y="5797296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402568" y="722376"/>
            <a:ext cx="32004" cy="32004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88719" y="5797296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1201400" y="722376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14983" y="5797296"/>
            <a:ext cx="42976" cy="42976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000232" y="722376"/>
            <a:ext cx="42976" cy="42976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41248" y="5797296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799064" y="722376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67512" y="5797296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597896" y="722376"/>
            <a:ext cx="32004" cy="32004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93776" y="5797296"/>
            <a:ext cx="42976" cy="42976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396728" y="722376"/>
            <a:ext cx="42976" cy="42976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20040" y="5797296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195560" y="722376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362456" y="5641848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402568" y="521207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88719" y="5641848"/>
            <a:ext cx="42976" cy="42976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201400" y="521207"/>
            <a:ext cx="42976" cy="42976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14983" y="5641848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00232" y="521207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41248" y="5641848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799064" y="521207"/>
            <a:ext cx="32004" cy="32004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67512" y="5641848"/>
            <a:ext cx="42976" cy="42976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597896" y="521207"/>
            <a:ext cx="42976" cy="42976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93776" y="5641848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396728" y="521207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20040" y="5641848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95560" y="521207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362456" y="5486400"/>
            <a:ext cx="42976" cy="42976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402568" y="320040"/>
            <a:ext cx="42976" cy="42976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88719" y="5486400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201400" y="320040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4983" y="5486400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000232" y="320040"/>
            <a:ext cx="32004" cy="32004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1248" y="5486400"/>
            <a:ext cx="42976" cy="42976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799064" y="320040"/>
            <a:ext cx="42976" cy="42976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67512" y="5486400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597896" y="320040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93776" y="5486400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96728" y="320040"/>
            <a:ext cx="32004" cy="32004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20040" y="5486400"/>
            <a:ext cx="42976" cy="42976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195560" y="320040"/>
            <a:ext cx="42976" cy="42976"/>
          </a:xfrm>
          <a:prstGeom prst="ellipse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029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40D0BE"/>
                </a:solidFill>
                <a:latin typeface="Aptos"/>
              </a:rPr>
              <a:t>11 / INTERPRETATION</a:t>
            </a:r>
            <a:endParaRPr sz="900" b="1" i="0">
              <a:solidFill>
                <a:srgbClr val="40D0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202731"/>
                </a:solidFill>
                <a:latin typeface="Aptos"/>
              </a:rPr>
              <a:t>From clusters to customer profiles</a:t>
            </a:r>
            <a:endParaRPr sz="2700" b="1" i="0">
              <a:solidFill>
                <a:srgbClr val="20273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7"/>
                </a:solidFill>
                <a:latin typeface="Aptos"/>
              </a:rPr>
              <a:t>These labels are descriptive interpretations of the synthetic data, not universal customer types.</a:t>
            </a:r>
            <a:endParaRPr sz="1200" b="0" i="0">
              <a:solidFill>
                <a:srgbClr val="5B6777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30352" cy="41148"/>
          </a:xfrm>
          <a:prstGeom prst="rect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858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B6777"/>
                </a:solidFill>
                <a:latin typeface="Aptos"/>
              </a:rPr>
              <a:t>CUSTOMER SEGMENTATION  /  K-MEANS CLUSTERING</a:t>
            </a:r>
            <a:endParaRPr sz="800" b="1" i="0">
              <a:solidFill>
                <a:srgbClr val="5B6777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B6777"/>
                </a:solidFill>
                <a:latin typeface="Aptos"/>
              </a:rPr>
              <a:t>12</a:t>
            </a:r>
            <a:endParaRPr sz="900" b="1" i="0">
              <a:solidFill>
                <a:srgbClr val="5B6777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10744200" cy="96012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1270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2322576"/>
            <a:ext cx="548640" cy="292608"/>
          </a:xfrm>
          <a:prstGeom prst="roundRect">
            <a:avLst>
              <a:gd name="adj" fmla="val 12000"/>
            </a:avLst>
          </a:prstGeom>
          <a:solidFill>
            <a:srgbClr val="EFB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340864"/>
            <a:ext cx="54864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01318"/>
                </a:solidFill>
                <a:latin typeface="Aptos"/>
              </a:rPr>
              <a:t>01</a:t>
            </a:r>
            <a:endParaRPr sz="900" b="1" i="0">
              <a:solidFill>
                <a:srgbClr val="101318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37360" y="2176272"/>
            <a:ext cx="36576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02731"/>
                </a:solidFill>
                <a:latin typeface="Aptos"/>
              </a:rPr>
              <a:t>High-spending / lower-income</a:t>
            </a:r>
            <a:endParaRPr sz="1500" b="1" i="0">
              <a:solidFill>
                <a:srgbClr val="202731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2176272"/>
            <a:ext cx="557784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7"/>
                </a:solidFill>
                <a:latin typeface="Aptos"/>
              </a:rPr>
              <a:t>May respond to value, affordability and frequent small offers.</a:t>
            </a:r>
            <a:endParaRPr sz="1200" b="0" i="0">
              <a:solidFill>
                <a:srgbClr val="5B6777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31520" y="3246120"/>
            <a:ext cx="10744200" cy="96012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1270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" y="3557016"/>
            <a:ext cx="548640" cy="292608"/>
          </a:xfrm>
          <a:prstGeom prst="roundRect">
            <a:avLst>
              <a:gd name="adj" fmla="val 12000"/>
            </a:avLst>
          </a:prstGeom>
          <a:solidFill>
            <a:srgbClr val="69A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75304"/>
            <a:ext cx="54864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01318"/>
                </a:solidFill>
                <a:latin typeface="Aptos"/>
              </a:rPr>
              <a:t>02</a:t>
            </a:r>
            <a:endParaRPr sz="900" b="1" i="0">
              <a:solidFill>
                <a:srgbClr val="101318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37360" y="3410712"/>
            <a:ext cx="36576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02731"/>
                </a:solidFill>
                <a:latin typeface="Aptos"/>
              </a:rPr>
              <a:t>Balanced / middle-range</a:t>
            </a:r>
            <a:endParaRPr sz="1500" b="1" i="0">
              <a:solidFill>
                <a:srgbClr val="202731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0" y="3410712"/>
            <a:ext cx="557784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7"/>
                </a:solidFill>
                <a:latin typeface="Aptos"/>
              </a:rPr>
              <a:t>May respond to broad, everyday offers and balanced product choices.</a:t>
            </a:r>
            <a:endParaRPr sz="1200" b="0" i="0">
              <a:solidFill>
                <a:srgbClr val="5B6777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31520" y="4480560"/>
            <a:ext cx="10744200" cy="96012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1270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" y="4791456"/>
            <a:ext cx="548640" cy="292608"/>
          </a:xfrm>
          <a:prstGeom prst="roundRect">
            <a:avLst>
              <a:gd name="adj" fmla="val 12000"/>
            </a:avLst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809744"/>
            <a:ext cx="54864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01318"/>
                </a:solidFill>
                <a:latin typeface="Aptos"/>
              </a:rPr>
              <a:t>03</a:t>
            </a:r>
            <a:endParaRPr sz="900" b="1" i="0">
              <a:solidFill>
                <a:srgbClr val="101318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737360" y="4645152"/>
            <a:ext cx="36576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02731"/>
                </a:solidFill>
                <a:latin typeface="Aptos"/>
              </a:rPr>
              <a:t>Low-spending / higher-income</a:t>
            </a:r>
            <a:endParaRPr sz="1500" b="1" i="0">
              <a:solidFill>
                <a:srgbClr val="202731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0" y="4645152"/>
            <a:ext cx="557784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7"/>
                </a:solidFill>
                <a:latin typeface="Aptos"/>
              </a:rPr>
              <a:t>May respond to relevance, premium value and trust-building.</a:t>
            </a:r>
            <a:endParaRPr sz="1200" b="0" i="0">
              <a:solidFill>
                <a:srgbClr val="5B677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BC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Rectangle 28"/>
          <p:cNvSpPr/>
          <p:nvPr/>
        </p:nvSpPr>
        <p:spPr>
          <a:xfrm>
            <a:off x="768096" y="6062472"/>
            <a:ext cx="109728" cy="32004"/>
          </a:xfrm>
          <a:prstGeom prst="rect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119104" y="329184"/>
            <a:ext cx="109728" cy="32004"/>
          </a:xfrm>
          <a:prstGeom prst="rect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6062472"/>
            <a:ext cx="109728" cy="32004"/>
          </a:xfrm>
          <a:prstGeom prst="rect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917936" y="329184"/>
            <a:ext cx="109728" cy="32004"/>
          </a:xfrm>
          <a:prstGeom prst="rect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6062472"/>
            <a:ext cx="109728" cy="32004"/>
          </a:xfrm>
          <a:prstGeom prst="rect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716768" y="329184"/>
            <a:ext cx="109728" cy="32004"/>
          </a:xfrm>
          <a:prstGeom prst="rect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01168" y="5897880"/>
            <a:ext cx="1417320" cy="384048"/>
          </a:xfrm>
          <a:prstGeom prst="roundRect">
            <a:avLst/>
          </a:prstGeom>
          <a:solidFill>
            <a:srgbClr val="1B1722"/>
          </a:solidFill>
          <a:ln w="10160">
            <a:solidFill>
              <a:srgbClr val="D6B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561320" y="164592"/>
            <a:ext cx="1234440" cy="438912"/>
          </a:xfrm>
          <a:prstGeom prst="roundRect">
            <a:avLst/>
          </a:prstGeom>
          <a:solidFill>
            <a:srgbClr val="1B1722"/>
          </a:solidFill>
          <a:ln w="10160">
            <a:solidFill>
              <a:srgbClr val="D6B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029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40D0BE"/>
                </a:solidFill>
                <a:latin typeface="Aptos"/>
              </a:rPr>
              <a:t>12 / VISUAL ANALYSIS</a:t>
            </a:r>
            <a:endParaRPr sz="900" b="1" i="0">
              <a:solidFill>
                <a:srgbClr val="40D0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7F9"/>
                </a:solidFill>
                <a:latin typeface="Aptos"/>
              </a:rPr>
              <a:t>A 3D view adds age as context</a:t>
            </a:r>
            <a:endParaRPr sz="2700"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9C2CD"/>
                </a:solidFill>
                <a:latin typeface="Aptos"/>
              </a:rPr>
              <a:t>The supplied 3D plot shows age alongside income and spending score.</a:t>
            </a:r>
            <a:endParaRPr sz="1200" b="0" i="0">
              <a:solidFill>
                <a:srgbClr val="B9C2CD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30352" cy="41148"/>
          </a:xfrm>
          <a:prstGeom prst="rect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858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8995A4"/>
                </a:solidFill>
                <a:latin typeface="Aptos"/>
              </a:rPr>
              <a:t>CUSTOMER SEGMENTATION  /  K-MEANS CLUSTERING</a:t>
            </a:r>
            <a:endParaRPr sz="800" b="1" i="0">
              <a:solidFill>
                <a:srgbClr val="8995A4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8995A4"/>
                </a:solidFill>
                <a:latin typeface="Aptos"/>
              </a:rPr>
              <a:t>13</a:t>
            </a:r>
            <a:endParaRPr sz="900" b="1" i="0">
              <a:solidFill>
                <a:srgbClr val="8995A4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6903720" cy="411480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1270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0000697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8912" y="1965960"/>
            <a:ext cx="3777494" cy="39319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955279" y="2240280"/>
            <a:ext cx="3291840" cy="1143000"/>
          </a:xfrm>
          <a:prstGeom prst="roundRect">
            <a:avLst>
              <a:gd name="adj" fmla="val 12000"/>
            </a:avLst>
          </a:prstGeom>
          <a:solidFill>
            <a:srgbClr val="1B2028"/>
          </a:solidFill>
          <a:ln w="12700">
            <a:solidFill>
              <a:srgbClr val="24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55279" y="2240280"/>
            <a:ext cx="50292" cy="1143000"/>
          </a:xfrm>
          <a:prstGeom prst="roundRect">
            <a:avLst>
              <a:gd name="adj" fmla="val 12000"/>
            </a:avLst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2404872"/>
            <a:ext cx="29260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7F9"/>
                </a:solidFill>
                <a:latin typeface="Aptos"/>
              </a:rPr>
              <a:t>TWO FEATURES DRIVE CLUSTERING</a:t>
            </a:r>
            <a:endParaRPr sz="1500"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56448" y="2807208"/>
            <a:ext cx="2907792" cy="4846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9C2CD"/>
                </a:solidFill>
                <a:latin typeface="Aptos"/>
              </a:rPr>
              <a:t>The project selects income and spending score for the clustering step.</a:t>
            </a:r>
            <a:endParaRPr sz="1300" b="0" i="0">
              <a:solidFill>
                <a:srgbClr val="B9C2CD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955280" y="3657600"/>
            <a:ext cx="3291840" cy="1261745"/>
          </a:xfrm>
          <a:prstGeom prst="roundRect">
            <a:avLst>
              <a:gd name="adj" fmla="val 12000"/>
            </a:avLst>
          </a:prstGeom>
          <a:solidFill>
            <a:srgbClr val="1B2028"/>
          </a:solidFill>
          <a:ln w="12700">
            <a:solidFill>
              <a:srgbClr val="24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55279" y="3657600"/>
            <a:ext cx="50292" cy="1143000"/>
          </a:xfrm>
          <a:prstGeom prst="roundRect">
            <a:avLst>
              <a:gd name="adj" fmla="val 12000"/>
            </a:avLst>
          </a:prstGeom>
          <a:solidFill>
            <a:srgbClr val="EFB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3822191"/>
            <a:ext cx="29260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7F9"/>
                </a:solidFill>
                <a:latin typeface="Aptos"/>
              </a:rPr>
              <a:t>AGE IS CONTEXT</a:t>
            </a:r>
            <a:endParaRPr sz="1500"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56448" y="4224528"/>
            <a:ext cx="2907792" cy="4846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9C2CD"/>
                </a:solidFill>
                <a:latin typeface="Aptos"/>
              </a:rPr>
              <a:t>Age is included in the generated dataset and shown in the 3D visualization.</a:t>
            </a:r>
            <a:endParaRPr sz="1300" b="0" i="0">
              <a:solidFill>
                <a:srgbClr val="B9C2CD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92440" y="5166360"/>
            <a:ext cx="297180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B9C2CD"/>
                </a:solidFill>
                <a:latin typeface="Aptos"/>
              </a:rPr>
              <a:t>A visualization does not mean age was used to fit K-Means.</a:t>
            </a:r>
            <a:endParaRPr sz="1100" b="0" i="1">
              <a:solidFill>
                <a:srgbClr val="B9C2C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BC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Oval 27"/>
          <p:cNvSpPr/>
          <p:nvPr/>
        </p:nvSpPr>
        <p:spPr>
          <a:xfrm>
            <a:off x="10972800" y="502920"/>
            <a:ext cx="457200" cy="457200"/>
          </a:xfrm>
          <a:prstGeom prst="ellipse">
            <a:avLst/>
          </a:prstGeom>
          <a:solidFill>
            <a:srgbClr val="CFB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789920" y="320040"/>
            <a:ext cx="822960" cy="822960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07040" y="137160"/>
            <a:ext cx="1188720" cy="1188720"/>
          </a:xfrm>
          <a:prstGeom prst="ellipse">
            <a:avLst/>
          </a:prstGeom>
          <a:solidFill>
            <a:srgbClr val="1B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arallelogram 24"/>
          <p:cNvSpPr/>
          <p:nvPr/>
        </p:nvSpPr>
        <p:spPr>
          <a:xfrm>
            <a:off x="10789920" y="6345936"/>
            <a:ext cx="1417320" cy="118872"/>
          </a:xfrm>
          <a:prstGeom prst="parallelogram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arallelogram 23"/>
          <p:cNvSpPr/>
          <p:nvPr/>
        </p:nvSpPr>
        <p:spPr>
          <a:xfrm>
            <a:off x="9875520" y="6510528"/>
            <a:ext cx="2377440" cy="347472"/>
          </a:xfrm>
          <a:prstGeom prst="parallelogram">
            <a:avLst/>
          </a:prstGeom>
          <a:solidFill>
            <a:srgbClr val="1B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arallelogram 22"/>
          <p:cNvSpPr/>
          <p:nvPr/>
        </p:nvSpPr>
        <p:spPr>
          <a:xfrm>
            <a:off x="0" y="292608"/>
            <a:ext cx="1554480" cy="128016"/>
          </a:xfrm>
          <a:prstGeom prst="parallelogram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arallelogram 21"/>
          <p:cNvSpPr/>
          <p:nvPr/>
        </p:nvSpPr>
        <p:spPr>
          <a:xfrm>
            <a:off x="0" y="0"/>
            <a:ext cx="2286000" cy="347472"/>
          </a:xfrm>
          <a:prstGeom prst="parallelogram">
            <a:avLst/>
          </a:prstGeom>
          <a:solidFill>
            <a:srgbClr val="1B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029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40D0BE"/>
                </a:solidFill>
                <a:latin typeface="Aptos"/>
              </a:rPr>
              <a:t>13 / COMPARE GROUPS</a:t>
            </a:r>
            <a:endParaRPr sz="900" b="1" i="0">
              <a:solidFill>
                <a:srgbClr val="40D0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202731"/>
                </a:solidFill>
                <a:latin typeface="Aptos"/>
              </a:rPr>
              <a:t>Average values by cluster</a:t>
            </a:r>
            <a:endParaRPr sz="2700" b="1" i="0">
              <a:solidFill>
                <a:srgbClr val="20273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7"/>
                </a:solidFill>
                <a:latin typeface="Aptos"/>
              </a:rPr>
              <a:t>The supplied bar chart compares mean income and spending score across the displayed cluster IDs.</a:t>
            </a:r>
            <a:endParaRPr sz="1200" b="0" i="0">
              <a:solidFill>
                <a:srgbClr val="5B6777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30352" cy="41148"/>
          </a:xfrm>
          <a:prstGeom prst="rect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858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B6777"/>
                </a:solidFill>
                <a:latin typeface="Aptos"/>
              </a:rPr>
              <a:t>CUSTOMER SEGMENTATION  /  K-MEANS CLUSTERING</a:t>
            </a:r>
            <a:endParaRPr sz="800" b="1" i="0">
              <a:solidFill>
                <a:srgbClr val="5B6777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B6777"/>
                </a:solidFill>
                <a:latin typeface="Aptos"/>
              </a:rPr>
              <a:t>14</a:t>
            </a:r>
            <a:endParaRPr sz="900" b="1" i="0">
              <a:solidFill>
                <a:srgbClr val="5B6777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6720840" cy="411480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1270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00006970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18414"/>
            <a:ext cx="6537959" cy="362701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818120" y="2148840"/>
            <a:ext cx="3520440" cy="118872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1270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18120" y="2148840"/>
            <a:ext cx="50292" cy="1188720"/>
          </a:xfrm>
          <a:prstGeom prst="roundRect">
            <a:avLst>
              <a:gd name="adj" fmla="val 12000"/>
            </a:avLst>
          </a:prstGeom>
          <a:solidFill>
            <a:srgbClr val="69A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9288" y="2313432"/>
            <a:ext cx="31546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02731"/>
                </a:solidFill>
                <a:latin typeface="Aptos"/>
              </a:rPr>
              <a:t>READ THE SHAPE</a:t>
            </a:r>
            <a:endParaRPr sz="1500" b="1" i="0">
              <a:solidFill>
                <a:srgbClr val="202731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00873" y="2633218"/>
            <a:ext cx="3136392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7"/>
                </a:solidFill>
                <a:latin typeface="Aptos"/>
              </a:rPr>
              <a:t>One group has higher income and lower spending; another has lower income and higher spending.</a:t>
            </a:r>
            <a:endParaRPr sz="1300" b="0" i="0">
              <a:solidFill>
                <a:srgbClr val="5B6777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818120" y="3611880"/>
            <a:ext cx="3520440" cy="118872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1270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18120" y="3611880"/>
            <a:ext cx="50292" cy="1188720"/>
          </a:xfrm>
          <a:prstGeom prst="roundRect">
            <a:avLst>
              <a:gd name="adj" fmla="val 12000"/>
            </a:avLst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9288" y="3776472"/>
            <a:ext cx="31546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02731"/>
                </a:solidFill>
                <a:latin typeface="Aptos"/>
              </a:rPr>
              <a:t>WHY IT MATTERS</a:t>
            </a:r>
            <a:endParaRPr sz="1500" b="1" i="0">
              <a:solidFill>
                <a:srgbClr val="202731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19288" y="4119753"/>
            <a:ext cx="3136392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7"/>
                </a:solidFill>
                <a:latin typeface="Aptos"/>
              </a:rPr>
              <a:t>Cluster averages make group differences easier to communicate than individual data points alone.</a:t>
            </a:r>
            <a:endParaRPr sz="1300" b="0" i="0">
              <a:solidFill>
                <a:srgbClr val="5B6777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955279" y="5166360"/>
            <a:ext cx="32004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5B6777"/>
                </a:solidFill>
                <a:latin typeface="Aptos"/>
              </a:rPr>
              <a:t>Cluster IDs are arbitrary labels; the number itself has no ranking.</a:t>
            </a:r>
            <a:endParaRPr sz="1100" b="0" i="1">
              <a:solidFill>
                <a:srgbClr val="5B677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BC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Arc 28"/>
          <p:cNvSpPr/>
          <p:nvPr/>
        </p:nvSpPr>
        <p:spPr>
          <a:xfrm>
            <a:off x="45720" y="45720"/>
            <a:ext cx="1965960" cy="1463040"/>
          </a:xfrm>
          <a:prstGeom prst="arc">
            <a:avLst/>
          </a:prstGeom>
          <a:noFill/>
          <a:ln w="20320">
            <a:solidFill>
              <a:srgbClr val="D6B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771632" y="5614416"/>
            <a:ext cx="1993392" cy="1993392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652760" y="5532120"/>
            <a:ext cx="2286000" cy="2286000"/>
          </a:xfrm>
          <a:prstGeom prst="ellipse">
            <a:avLst/>
          </a:prstGeom>
          <a:solidFill>
            <a:srgbClr val="1B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-640080" y="-621792"/>
            <a:ext cx="2029968" cy="2029968"/>
          </a:xfrm>
          <a:prstGeom prst="ellipse">
            <a:avLst/>
          </a:prstGeom>
          <a:solidFill>
            <a:srgbClr val="CFB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-841248" y="-804672"/>
            <a:ext cx="2423160" cy="2423160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-1005840" y="-960120"/>
            <a:ext cx="2743200" cy="2743200"/>
          </a:xfrm>
          <a:prstGeom prst="ellipse">
            <a:avLst/>
          </a:prstGeom>
          <a:solidFill>
            <a:srgbClr val="1B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029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40D0BE"/>
                </a:solidFill>
                <a:latin typeface="Aptos"/>
              </a:rPr>
              <a:t>14 / NEW-CUSTOMER USE CASE</a:t>
            </a:r>
            <a:endParaRPr sz="900" b="1" i="0">
              <a:solidFill>
                <a:srgbClr val="40D0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7F9"/>
                </a:solidFill>
                <a:latin typeface="Aptos"/>
              </a:rPr>
              <a:t>How a new profile can be assigned</a:t>
            </a:r>
            <a:endParaRPr sz="2700"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9C2CD"/>
                </a:solidFill>
                <a:latin typeface="Aptos"/>
              </a:rPr>
              <a:t>The report describes a simple example prediction for a customer with income 85k and spending score 15.</a:t>
            </a:r>
            <a:endParaRPr sz="1200" b="0" i="0">
              <a:solidFill>
                <a:srgbClr val="B9C2CD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30352" cy="41148"/>
          </a:xfrm>
          <a:prstGeom prst="rect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858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8995A4"/>
                </a:solidFill>
                <a:latin typeface="Aptos"/>
              </a:rPr>
              <a:t>CUSTOMER SEGMENTATION  /  K-MEANS CLUSTERING</a:t>
            </a:r>
            <a:endParaRPr sz="800" b="1" i="0">
              <a:solidFill>
                <a:srgbClr val="8995A4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8995A4"/>
                </a:solidFill>
                <a:latin typeface="Aptos"/>
              </a:rPr>
              <a:t>15</a:t>
            </a:r>
            <a:endParaRPr sz="900" b="1" i="0">
              <a:solidFill>
                <a:srgbClr val="8995A4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7240" y="2148840"/>
            <a:ext cx="2743200" cy="2240280"/>
          </a:xfrm>
          <a:prstGeom prst="roundRect">
            <a:avLst>
              <a:gd name="adj" fmla="val 12000"/>
            </a:avLst>
          </a:prstGeom>
          <a:solidFill>
            <a:srgbClr val="1B2028"/>
          </a:solidFill>
          <a:ln w="12700">
            <a:solidFill>
              <a:srgbClr val="24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50592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0D0BE"/>
                </a:solidFill>
                <a:latin typeface="Aptos"/>
              </a:rPr>
              <a:t>INPUT PROFILE</a:t>
            </a:r>
            <a:endParaRPr sz="1100" b="1" i="0">
              <a:solidFill>
                <a:srgbClr val="40D0BE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22860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6F7F9"/>
                </a:solidFill>
                <a:latin typeface="Aptos"/>
              </a:rPr>
              <a:t>Income: 85k</a:t>
            </a:r>
            <a:endParaRPr sz="1900"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3493008"/>
            <a:ext cx="22860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6F7F9"/>
                </a:solidFill>
                <a:latin typeface="Aptos"/>
              </a:rPr>
              <a:t>Spending: 15</a:t>
            </a:r>
            <a:endParaRPr sz="1900"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3749039" y="2880360"/>
            <a:ext cx="1234440" cy="685800"/>
          </a:xfrm>
          <a:prstGeom prst="rightArrow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03520" y="2148840"/>
            <a:ext cx="2468880" cy="2240280"/>
          </a:xfrm>
          <a:prstGeom prst="roundRect">
            <a:avLst>
              <a:gd name="adj" fmla="val 12000"/>
            </a:avLst>
          </a:prstGeom>
          <a:solidFill>
            <a:srgbClr val="1B2028"/>
          </a:solidFill>
          <a:ln w="12700">
            <a:solidFill>
              <a:srgbClr val="24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32120" y="2450592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FB15E"/>
                </a:solidFill>
                <a:latin typeface="Aptos"/>
              </a:rPr>
              <a:t>MODEL STEP</a:t>
            </a:r>
            <a:endParaRPr sz="1100" b="1" i="0">
              <a:solidFill>
                <a:srgbClr val="EFB15E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532120" y="2880360"/>
            <a:ext cx="201168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6F7F9"/>
                </a:solidFill>
                <a:latin typeface="Aptos"/>
              </a:rPr>
              <a:t>Scale with the same fitted scaler, then assign to the nearest learned centroid.</a:t>
            </a:r>
            <a:endParaRPr sz="1400"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8046720" y="2880360"/>
            <a:ext cx="1097280" cy="685800"/>
          </a:xfrm>
          <a:prstGeom prst="rightArrow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418320" y="2148840"/>
            <a:ext cx="1965960" cy="2240280"/>
          </a:xfrm>
          <a:prstGeom prst="roundRect">
            <a:avLst>
              <a:gd name="adj" fmla="val 12000"/>
            </a:avLst>
          </a:prstGeom>
          <a:solidFill>
            <a:srgbClr val="1B2028"/>
          </a:solidFill>
          <a:ln w="12700">
            <a:solidFill>
              <a:srgbClr val="24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19488" y="2450592"/>
            <a:ext cx="1554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0D0BE"/>
                </a:solidFill>
                <a:latin typeface="Aptos"/>
              </a:rPr>
              <a:t>OUTPUT</a:t>
            </a:r>
            <a:endParaRPr sz="1100" b="1" i="0">
              <a:solidFill>
                <a:srgbClr val="40D0BE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619488" y="2880360"/>
            <a:ext cx="1554480" cy="10058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6F7F9"/>
                </a:solidFill>
                <a:latin typeface="Aptos"/>
              </a:rPr>
              <a:t>Cluster ID
+ profile</a:t>
            </a:r>
            <a:endParaRPr sz="1700"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960" y="4892040"/>
            <a:ext cx="1051560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B9C2CD"/>
                </a:solidFill>
                <a:latin typeface="Aptos"/>
              </a:rPr>
              <a:t>Note: the supplied source describes this workflow, but the exported report does not provide a clearly readable verified cluster ID for this example.</a:t>
            </a:r>
            <a:endParaRPr sz="1200" b="0" i="1">
              <a:solidFill>
                <a:srgbClr val="B9C2C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BC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Arc 28"/>
          <p:cNvSpPr/>
          <p:nvPr/>
        </p:nvSpPr>
        <p:spPr>
          <a:xfrm>
            <a:off x="0" y="5440680"/>
            <a:ext cx="3657600" cy="1280160"/>
          </a:xfrm>
          <a:prstGeom prst="arc">
            <a:avLst/>
          </a:prstGeom>
          <a:noFill/>
          <a:ln w="16510">
            <a:solidFill>
              <a:srgbClr val="D6B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881360" y="-914400"/>
            <a:ext cx="2468880" cy="2468880"/>
          </a:xfrm>
          <a:prstGeom prst="ellipse">
            <a:avLst/>
          </a:prstGeom>
          <a:solidFill>
            <a:srgbClr val="B49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607040" y="-1188720"/>
            <a:ext cx="3108960" cy="3108960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-640080" y="5532120"/>
            <a:ext cx="2057400" cy="2057400"/>
          </a:xfrm>
          <a:prstGeom prst="ellipse">
            <a:avLst/>
          </a:prstGeom>
          <a:solidFill>
            <a:srgbClr val="CFB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-868680" y="5349240"/>
            <a:ext cx="2560320" cy="2560320"/>
          </a:xfrm>
          <a:prstGeom prst="ellipse">
            <a:avLst/>
          </a:prstGeom>
          <a:solidFill>
            <a:srgbClr val="B49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-1143000" y="5166360"/>
            <a:ext cx="3017520" cy="3017520"/>
          </a:xfrm>
          <a:prstGeom prst="ellipse">
            <a:avLst/>
          </a:prstGeom>
          <a:solidFill>
            <a:srgbClr val="744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029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40D0BE"/>
                </a:solidFill>
                <a:latin typeface="Aptos"/>
              </a:rPr>
              <a:t>15 / BUSINESS RELEVANCE</a:t>
            </a:r>
            <a:endParaRPr sz="900" b="1" i="0">
              <a:solidFill>
                <a:srgbClr val="40D0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202731"/>
                </a:solidFill>
                <a:latin typeface="Aptos"/>
              </a:rPr>
              <a:t>Where segmentation can help</a:t>
            </a:r>
            <a:endParaRPr sz="2700" b="1" i="0">
              <a:solidFill>
                <a:srgbClr val="20273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7"/>
                </a:solidFill>
                <a:latin typeface="Aptos"/>
              </a:rPr>
              <a:t>Potential uses suggested by the report; outcomes would need real-data testing.</a:t>
            </a:r>
            <a:endParaRPr sz="1200" b="0" i="0">
              <a:solidFill>
                <a:srgbClr val="5B6777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30352" cy="41148"/>
          </a:xfrm>
          <a:prstGeom prst="rect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858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B6777"/>
                </a:solidFill>
                <a:latin typeface="Aptos"/>
              </a:rPr>
              <a:t>CUSTOMER SEGMENTATION  /  K-MEANS CLUSTERING</a:t>
            </a:r>
            <a:endParaRPr sz="800" b="1" i="0">
              <a:solidFill>
                <a:srgbClr val="5B6777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B6777"/>
                </a:solidFill>
                <a:latin typeface="Aptos"/>
              </a:rPr>
              <a:t>16</a:t>
            </a:r>
            <a:endParaRPr sz="900" b="1" i="0">
              <a:solidFill>
                <a:srgbClr val="5B6777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3383280" cy="141732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1270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50292" cy="1417320"/>
          </a:xfrm>
          <a:prstGeom prst="roundRect">
            <a:avLst>
              <a:gd name="adj" fmla="val 12000"/>
            </a:avLst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267712"/>
            <a:ext cx="30175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02731"/>
                </a:solidFill>
                <a:latin typeface="Aptos"/>
              </a:rPr>
              <a:t>PERSONALIZED CAMPAIGNS</a:t>
            </a:r>
            <a:endParaRPr sz="1500" b="1" i="0">
              <a:solidFill>
                <a:srgbClr val="202731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2688" y="2670048"/>
            <a:ext cx="2999232" cy="7589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7"/>
                </a:solidFill>
                <a:latin typeface="Aptos"/>
              </a:rPr>
              <a:t>Tailor messages and offers to different customer profiles.</a:t>
            </a:r>
            <a:endParaRPr sz="1400" b="0" i="0">
              <a:solidFill>
                <a:srgbClr val="5B6777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389120" y="2103120"/>
            <a:ext cx="3383280" cy="141732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1270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2103120"/>
            <a:ext cx="50292" cy="1417320"/>
          </a:xfrm>
          <a:prstGeom prst="roundRect">
            <a:avLst>
              <a:gd name="adj" fmla="val 12000"/>
            </a:avLst>
          </a:prstGeom>
          <a:solidFill>
            <a:srgbClr val="69A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267712"/>
            <a:ext cx="30175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02731"/>
                </a:solidFill>
                <a:latin typeface="Aptos"/>
              </a:rPr>
              <a:t>CUSTOMER RETENTION</a:t>
            </a:r>
            <a:endParaRPr sz="1500" b="1" i="0">
              <a:solidFill>
                <a:srgbClr val="202731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90288" y="2670048"/>
            <a:ext cx="2999232" cy="7589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7"/>
                </a:solidFill>
                <a:latin typeface="Aptos"/>
              </a:rPr>
              <a:t>Plan engagement strategies for groups with different spending patterns.</a:t>
            </a:r>
            <a:endParaRPr sz="1400" b="0" i="0">
              <a:solidFill>
                <a:srgbClr val="5B6777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046720" y="2103120"/>
            <a:ext cx="3383280" cy="141732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 w="12700"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2103120"/>
            <a:ext cx="50292" cy="1417320"/>
          </a:xfrm>
          <a:prstGeom prst="roundRect">
            <a:avLst>
              <a:gd name="adj" fmla="val 12000"/>
            </a:avLst>
          </a:prstGeom>
          <a:solidFill>
            <a:srgbClr val="EFB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2267712"/>
            <a:ext cx="30175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02731"/>
                </a:solidFill>
                <a:latin typeface="Aptos"/>
              </a:rPr>
              <a:t>RESOURCE PLANNING</a:t>
            </a:r>
            <a:endParaRPr sz="1500" b="1" i="0">
              <a:solidFill>
                <a:srgbClr val="202731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47888" y="2670048"/>
            <a:ext cx="2999232" cy="7589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7"/>
                </a:solidFill>
                <a:latin typeface="Aptos"/>
              </a:rPr>
              <a:t>Prioritize campaign effort and compare group-level responses.</a:t>
            </a:r>
            <a:endParaRPr sz="1400" b="0" i="0">
              <a:solidFill>
                <a:srgbClr val="5B6777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960" y="4206240"/>
            <a:ext cx="1060704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02731"/>
                </a:solidFill>
                <a:latin typeface="Aptos"/>
              </a:rPr>
              <a:t>Use the clusters as a starting hypothesis—not as a substitute for customer research, privacy safeguards or business validation.</a:t>
            </a:r>
            <a:endParaRPr sz="1600" b="1" i="0">
              <a:solidFill>
                <a:srgbClr val="20273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BC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Parallelogram 23"/>
          <p:cNvSpPr/>
          <p:nvPr/>
        </p:nvSpPr>
        <p:spPr>
          <a:xfrm>
            <a:off x="9966960" y="0"/>
            <a:ext cx="1645920" cy="109728"/>
          </a:xfrm>
          <a:prstGeom prst="parallelogram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arallelogram 22"/>
          <p:cNvSpPr/>
          <p:nvPr/>
        </p:nvSpPr>
        <p:spPr>
          <a:xfrm>
            <a:off x="11448288" y="5376672"/>
            <a:ext cx="146304" cy="1371600"/>
          </a:xfrm>
          <a:prstGeom prst="parallelogram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arallelogram 21"/>
          <p:cNvSpPr/>
          <p:nvPr/>
        </p:nvSpPr>
        <p:spPr>
          <a:xfrm>
            <a:off x="11631168" y="5074920"/>
            <a:ext cx="566928" cy="1783080"/>
          </a:xfrm>
          <a:prstGeom prst="parallelogram">
            <a:avLst/>
          </a:prstGeom>
          <a:solidFill>
            <a:srgbClr val="1B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arallelogram 20"/>
          <p:cNvSpPr/>
          <p:nvPr/>
        </p:nvSpPr>
        <p:spPr>
          <a:xfrm>
            <a:off x="329184" y="0"/>
            <a:ext cx="146304" cy="1325880"/>
          </a:xfrm>
          <a:prstGeom prst="parallelogram">
            <a:avLst/>
          </a:prstGeom>
          <a:solidFill>
            <a:srgbClr val="D6B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arallelogram 19"/>
          <p:cNvSpPr/>
          <p:nvPr/>
        </p:nvSpPr>
        <p:spPr>
          <a:xfrm>
            <a:off x="0" y="0"/>
            <a:ext cx="457200" cy="1691640"/>
          </a:xfrm>
          <a:prstGeom prst="parallelogram">
            <a:avLst/>
          </a:prstGeom>
          <a:solidFill>
            <a:srgbClr val="1B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029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40D0BE"/>
                </a:solidFill>
                <a:latin typeface="Aptos"/>
              </a:rPr>
              <a:t>16 / EVALUATION</a:t>
            </a:r>
            <a:endParaRPr sz="900" b="1" i="0">
              <a:solidFill>
                <a:srgbClr val="40D0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7F9"/>
                </a:solidFill>
                <a:latin typeface="Aptos"/>
              </a:rPr>
              <a:t>What the project can—and cannot—claim</a:t>
            </a:r>
            <a:endParaRPr sz="2700"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9C2CD"/>
                </a:solidFill>
                <a:latin typeface="Aptos"/>
              </a:rPr>
              <a:t>The report explicitly identifies limits that matter before real-world use.</a:t>
            </a:r>
            <a:endParaRPr sz="1200" b="0" i="0">
              <a:solidFill>
                <a:srgbClr val="B9C2CD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30352" cy="41148"/>
          </a:xfrm>
          <a:prstGeom prst="rect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858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8995A4"/>
                </a:solidFill>
                <a:latin typeface="Aptos"/>
              </a:rPr>
              <a:t>CUSTOMER SEGMENTATION  /  K-MEANS CLUSTERING</a:t>
            </a:r>
            <a:endParaRPr sz="800" b="1" i="0">
              <a:solidFill>
                <a:srgbClr val="8995A4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8995A4"/>
                </a:solidFill>
                <a:latin typeface="Aptos"/>
              </a:rPr>
              <a:t>17</a:t>
            </a:r>
            <a:endParaRPr sz="900" b="1" i="0">
              <a:solidFill>
                <a:srgbClr val="8995A4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5074920" cy="2423160"/>
          </a:xfrm>
          <a:prstGeom prst="roundRect">
            <a:avLst>
              <a:gd name="adj" fmla="val 12000"/>
            </a:avLst>
          </a:prstGeom>
          <a:solidFill>
            <a:srgbClr val="1B2028"/>
          </a:solidFill>
          <a:ln w="12700">
            <a:solidFill>
              <a:srgbClr val="24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011680"/>
            <a:ext cx="50292" cy="2423160"/>
          </a:xfrm>
          <a:prstGeom prst="roundRect">
            <a:avLst>
              <a:gd name="adj" fmla="val 12000"/>
            </a:avLst>
          </a:prstGeom>
          <a:solidFill>
            <a:srgbClr val="EE7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176272"/>
            <a:ext cx="4709159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7F9"/>
                </a:solidFill>
                <a:latin typeface="Aptos"/>
              </a:rPr>
              <a:t>LIMITATIONS</a:t>
            </a:r>
            <a:endParaRPr sz="1500"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2688" y="2578608"/>
            <a:ext cx="4690872" cy="17647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9C2CD"/>
                </a:solidFill>
                <a:latin typeface="Aptos"/>
              </a:rPr>
              <a:t>• Synthetic rather than real customer data
• Only two features used for clustering
• K-Means is sensitive to initialization and outliers
• No real-world validation is reported</a:t>
            </a:r>
            <a:endParaRPr sz="1400" b="0" i="0">
              <a:solidFill>
                <a:srgbClr val="B9C2CD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63640" y="2011680"/>
            <a:ext cx="5074920" cy="2423160"/>
          </a:xfrm>
          <a:prstGeom prst="roundRect">
            <a:avLst>
              <a:gd name="adj" fmla="val 12000"/>
            </a:avLst>
          </a:prstGeom>
          <a:solidFill>
            <a:srgbClr val="1B2028"/>
          </a:solidFill>
          <a:ln w="12700">
            <a:solidFill>
              <a:srgbClr val="24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2011680"/>
            <a:ext cx="50292" cy="2423160"/>
          </a:xfrm>
          <a:prstGeom prst="roundRect">
            <a:avLst>
              <a:gd name="adj" fmla="val 12000"/>
            </a:avLst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2176272"/>
            <a:ext cx="4709159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7F9"/>
                </a:solidFill>
                <a:latin typeface="Aptos"/>
              </a:rPr>
              <a:t>NEXT STEPS</a:t>
            </a:r>
            <a:endParaRPr sz="1500"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64807" y="2578608"/>
            <a:ext cx="4690872" cy="17647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9C2CD"/>
                </a:solidFill>
                <a:latin typeface="Aptos"/>
              </a:rPr>
              <a:t>• Test on a representative real dataset
• Add relevant customer features carefully
• Compare with other clustering methods
• Evaluate silhouette / Davies–Bouldin scores
• Build a dashboard only after validation</a:t>
            </a:r>
            <a:endParaRPr sz="1400" b="0" i="0">
              <a:solidFill>
                <a:srgbClr val="B9C2CD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EFB15E"/>
                </a:solidFill>
                <a:latin typeface="Aptos"/>
              </a:rPr>
              <a:t>Technical accuracy note: the supplied code should be checked before demonstration—its cluster column uses fit_transform rather than fit_predict, which returns distances rather than discrete cluster labels.</a:t>
            </a:r>
            <a:endParaRPr sz="1200" b="0" i="1">
              <a:solidFill>
                <a:srgbClr val="EFB15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BC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Oval 25"/>
          <p:cNvSpPr/>
          <p:nvPr/>
        </p:nvSpPr>
        <p:spPr>
          <a:xfrm>
            <a:off x="45720" y="5349240"/>
            <a:ext cx="1143000" cy="1143000"/>
          </a:xfrm>
          <a:prstGeom prst="ellipse">
            <a:avLst/>
          </a:prstGeom>
          <a:noFill/>
          <a:ln w="12700">
            <a:solidFill>
              <a:srgbClr val="744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27080" y="621792"/>
            <a:ext cx="1097280" cy="1097280"/>
          </a:xfrm>
          <a:prstGeom prst="ellipse">
            <a:avLst/>
          </a:prstGeom>
          <a:noFill/>
          <a:ln w="12700">
            <a:solidFill>
              <a:srgbClr val="D6B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561320" y="256032"/>
            <a:ext cx="841248" cy="841248"/>
          </a:xfrm>
          <a:prstGeom prst="ellipse">
            <a:avLst/>
          </a:prstGeom>
          <a:noFill/>
          <a:ln w="15240">
            <a:solidFill>
              <a:srgbClr val="CFB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561320" y="256032"/>
            <a:ext cx="1170432" cy="1170432"/>
          </a:xfrm>
          <a:prstGeom prst="ellipse">
            <a:avLst/>
          </a:prstGeom>
          <a:noFill/>
          <a:ln w="15240">
            <a:solidFill>
              <a:srgbClr val="B49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61320" y="256032"/>
            <a:ext cx="1508760" cy="1508760"/>
          </a:xfrm>
          <a:prstGeom prst="ellipse">
            <a:avLst/>
          </a:prstGeom>
          <a:noFill/>
          <a:ln w="15240">
            <a:solidFill>
              <a:srgbClr val="744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561320" y="256032"/>
            <a:ext cx="1828800" cy="1828800"/>
          </a:xfrm>
          <a:prstGeom prst="ellipse">
            <a:avLst/>
          </a:prstGeom>
          <a:noFill/>
          <a:ln w="15240">
            <a:solidFill>
              <a:srgbClr val="D6B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0D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4572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0D0BE"/>
                </a:solidFill>
                <a:latin typeface="Aptos"/>
              </a:rPr>
              <a:t>17 / CONCLUSION</a:t>
            </a:r>
            <a:endParaRPr sz="1000" b="1" i="0">
              <a:solidFill>
                <a:srgbClr val="40D0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987552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6F7F9"/>
                </a:solidFill>
                <a:latin typeface="Aptos"/>
              </a:rPr>
              <a:t>A simple model. A useful starting point.</a:t>
            </a:r>
            <a:endParaRPr sz="3000"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9784080" cy="619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sz="1900" b="1" i="0">
                <a:solidFill>
                  <a:schemeClr val="tx1"/>
                </a:solidFill>
                <a:latin typeface="Aptos"/>
              </a:rPr>
              <a:t>K</a:t>
            </a:r>
            <a:r>
              <a:rPr sz="1900" b="1" i="0">
                <a:solidFill>
                  <a:schemeClr val="tx1"/>
                </a:solidFill>
                <a:latin typeface="Aptos"/>
              </a:rPr>
              <a:t>-Means demonstrates how customer profiles can be grouped by income and spending patterns.</a:t>
            </a:r>
            <a:endParaRPr sz="1900" b="1" i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3474720"/>
            <a:ext cx="2651760" cy="960120"/>
          </a:xfrm>
          <a:prstGeom prst="roundRect">
            <a:avLst>
              <a:gd name="adj" fmla="val 12000"/>
            </a:avLst>
          </a:prstGeom>
          <a:solidFill>
            <a:srgbClr val="1B2028"/>
          </a:solidFill>
          <a:ln w="12700">
            <a:solidFill>
              <a:srgbClr val="24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685032"/>
            <a:ext cx="5943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0D0BE"/>
                </a:solidFill>
                <a:latin typeface="Aptos"/>
              </a:rPr>
              <a:t>01</a:t>
            </a:r>
            <a:endParaRPr sz="1200" b="1" i="0">
              <a:solidFill>
                <a:srgbClr val="40D0BE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45920" y="3657600"/>
            <a:ext cx="16459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6F7F9"/>
                </a:solidFill>
                <a:latin typeface="Aptos"/>
              </a:rPr>
              <a:t>Explore</a:t>
            </a:r>
            <a:endParaRPr sz="1700"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023360" y="3474720"/>
            <a:ext cx="2651760" cy="960120"/>
          </a:xfrm>
          <a:prstGeom prst="roundRect">
            <a:avLst>
              <a:gd name="adj" fmla="val 12000"/>
            </a:avLst>
          </a:prstGeom>
          <a:solidFill>
            <a:srgbClr val="1B2028"/>
          </a:solidFill>
          <a:ln w="12700">
            <a:solidFill>
              <a:srgbClr val="24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3685032"/>
            <a:ext cx="5943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0D0BE"/>
                </a:solidFill>
                <a:latin typeface="Aptos"/>
              </a:rPr>
              <a:t>02</a:t>
            </a:r>
            <a:endParaRPr sz="1200" b="1" i="0">
              <a:solidFill>
                <a:srgbClr val="40D0BE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46320" y="3657600"/>
            <a:ext cx="16459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6F7F9"/>
                </a:solidFill>
                <a:latin typeface="Aptos"/>
              </a:rPr>
              <a:t>Cluster</a:t>
            </a:r>
            <a:endParaRPr sz="1700"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223760" y="3474720"/>
            <a:ext cx="2651760" cy="960120"/>
          </a:xfrm>
          <a:prstGeom prst="roundRect">
            <a:avLst>
              <a:gd name="adj" fmla="val 12000"/>
            </a:avLst>
          </a:prstGeom>
          <a:solidFill>
            <a:srgbClr val="1B2028"/>
          </a:solidFill>
          <a:ln w="12700">
            <a:solidFill>
              <a:srgbClr val="24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3685032"/>
            <a:ext cx="5943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0D0BE"/>
                </a:solidFill>
                <a:latin typeface="Aptos"/>
              </a:rPr>
              <a:t>03</a:t>
            </a:r>
            <a:endParaRPr sz="1200" b="1" i="0">
              <a:solidFill>
                <a:srgbClr val="40D0BE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46720" y="3657600"/>
            <a:ext cx="16459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6F7F9"/>
                </a:solidFill>
                <a:latin typeface="Aptos"/>
              </a:rPr>
              <a:t>Interpret</a:t>
            </a:r>
            <a:endParaRPr sz="1700"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4983480"/>
            <a:ext cx="1033272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7F9"/>
                </a:solidFill>
                <a:latin typeface="Aptos"/>
              </a:rPr>
              <a:t>Key takeaway: the value lies not only in forming groups, but in validating what those groups mean.</a:t>
            </a:r>
            <a:endParaRPr sz="1500" b="1" i="0">
              <a:solidFill>
                <a:srgbClr val="F6F7F9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6172200"/>
            <a:ext cx="6400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995A4"/>
                </a:solidFill>
                <a:latin typeface="Aptos"/>
              </a:rPr>
              <a:t>THANK YOU  •  QUESTIONS &amp; DISCUSSION</a:t>
            </a:r>
            <a:endParaRPr sz="1000" b="1" i="0">
              <a:solidFill>
                <a:srgbClr val="8995A4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928" y="6510528"/>
            <a:ext cx="6858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8995A4"/>
                </a:solidFill>
                <a:latin typeface="Aptos"/>
              </a:rPr>
              <a:t>CUSTOMER SEGMENTATION  /  K-MEANS CLUSTERING</a:t>
            </a:r>
            <a:endParaRPr sz="800" b="1" i="0">
              <a:solidFill>
                <a:srgbClr val="8995A4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8995A4"/>
                </a:solidFill>
                <a:latin typeface="Aptos"/>
              </a:rPr>
              <a:t>18</a:t>
            </a:r>
            <a:endParaRPr sz="900" b="1" i="0">
              <a:solidFill>
                <a:srgbClr val="8995A4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9092</Words>
  <Application>WPS Presentation</Application>
  <PresentationFormat>On-screen Show (4:3)</PresentationFormat>
  <Paragraphs>489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Arial</vt:lpstr>
      <vt:lpstr>SimSun</vt:lpstr>
      <vt:lpstr>Wingdings</vt:lpstr>
      <vt:lpstr>Arial</vt:lpstr>
      <vt:lpstr>Aptos</vt:lpstr>
      <vt:lpstr>Segoe UI</vt:lpstr>
      <vt:lpstr>Microsoft YaHei</vt:lpstr>
      <vt:lpstr>Impact</vt:lpstr>
      <vt:lpstr>Arial Black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WPS_1784827300</cp:lastModifiedBy>
  <cp:revision>6</cp:revision>
  <dcterms:created xsi:type="dcterms:W3CDTF">2013-01-27T09:14:00Z</dcterms:created>
  <dcterms:modified xsi:type="dcterms:W3CDTF">2026-10-22T10:34:06Z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288F11F6C7644D13B8A4063971391F4F_13</vt:lpwstr>
  </property>
</Properties>
</file>